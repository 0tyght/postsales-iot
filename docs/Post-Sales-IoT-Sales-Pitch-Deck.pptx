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866ae1fe7f48bf" /><Relationship Type="http://schemas.openxmlformats.org/officeDocument/2006/relationships/extended-properties" Target="/docProps/app.xml" Id="R17f775533fd74cf1" /><Relationship Type="http://schemas.openxmlformats.org/officeDocument/2006/relationships/officeDocument" Target="/ppt/presentation.xml" Id="R6144e5f3ffe446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19661243a04083"/>
  </p:sldMasterIdLst>
  <p:notesMasterIdLst>
    <p:notesMasterId xmlns:r="http://schemas.openxmlformats.org/officeDocument/2006/relationships" r:id="Ra706b32e51574421"/>
  </p:notesMasterIdLst>
  <p:sldIdLst>
    <p:sldId xmlns:r="http://schemas.openxmlformats.org/officeDocument/2006/relationships" id="256" r:id="Rf28c10588dfd4135"/>
    <p:sldId xmlns:r="http://schemas.openxmlformats.org/officeDocument/2006/relationships" id="257" r:id="R8e1f5954b13a4e7e"/>
    <p:sldId xmlns:r="http://schemas.openxmlformats.org/officeDocument/2006/relationships" id="258" r:id="R4a84c15d460a4f92"/>
    <p:sldId xmlns:r="http://schemas.openxmlformats.org/officeDocument/2006/relationships" id="259" r:id="R40109616b9d44ce0"/>
    <p:sldId xmlns:r="http://schemas.openxmlformats.org/officeDocument/2006/relationships" id="260" r:id="Rf87067ab00824450"/>
    <p:sldId xmlns:r="http://schemas.openxmlformats.org/officeDocument/2006/relationships" id="261" r:id="Rb5337d65177a4dd3"/>
    <p:sldId xmlns:r="http://schemas.openxmlformats.org/officeDocument/2006/relationships" id="262" r:id="R710c8657df6a44c8"/>
    <p:sldId xmlns:r="http://schemas.openxmlformats.org/officeDocument/2006/relationships" id="263" r:id="R4cdd4bfe6fd24fb4"/>
    <p:sldId xmlns:r="http://schemas.openxmlformats.org/officeDocument/2006/relationships" id="264" r:id="R891c4acbe636433e"/>
    <p:sldId xmlns:r="http://schemas.openxmlformats.org/officeDocument/2006/relationships" id="265" r:id="R54ca86b4ede44aa3"/>
    <p:sldId xmlns:r="http://schemas.openxmlformats.org/officeDocument/2006/relationships" id="266" r:id="R3a4c90c104ab4cac"/>
    <p:sldId xmlns:r="http://schemas.openxmlformats.org/officeDocument/2006/relationships" id="267" r:id="R6d6deb31a1ae469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53903874054d6a" /><Relationship Type="http://schemas.openxmlformats.org/officeDocument/2006/relationships/slideMaster" Target="/ppt/slideMasters/slideMaster1.xml" Id="Rbd19661243a04083" /><Relationship Type="http://schemas.openxmlformats.org/officeDocument/2006/relationships/notesMaster" Target="/ppt/notesMasters/notesMaster1.xml" Id="Ra706b32e51574421" /><Relationship Type="http://schemas.openxmlformats.org/officeDocument/2006/relationships/presProps" Target="/ppt/presProps.xml" Id="R083e1040cc0046e0" /><Relationship Type="http://schemas.openxmlformats.org/officeDocument/2006/relationships/tableStyles" Target="/ppt/tableStyles.xml" Id="R6db1e6021510421a" /><Relationship Type="http://schemas.openxmlformats.org/officeDocument/2006/relationships/slide" Target="/ppt/slides/slide1.xml" Id="Rf28c10588dfd4135" /><Relationship Type="http://schemas.openxmlformats.org/officeDocument/2006/relationships/slide" Target="/ppt/slides/slide2.xml" Id="R8e1f5954b13a4e7e" /><Relationship Type="http://schemas.openxmlformats.org/officeDocument/2006/relationships/slide" Target="/ppt/slides/slide3.xml" Id="R4a84c15d460a4f92" /><Relationship Type="http://schemas.openxmlformats.org/officeDocument/2006/relationships/slide" Target="/ppt/slides/slide4.xml" Id="R40109616b9d44ce0" /><Relationship Type="http://schemas.openxmlformats.org/officeDocument/2006/relationships/slide" Target="/ppt/slides/slide5.xml" Id="Rf87067ab00824450" /><Relationship Type="http://schemas.openxmlformats.org/officeDocument/2006/relationships/slide" Target="/ppt/slides/slide6.xml" Id="Rb5337d65177a4dd3" /><Relationship Type="http://schemas.openxmlformats.org/officeDocument/2006/relationships/slide" Target="/ppt/slides/slide7.xml" Id="R710c8657df6a44c8" /><Relationship Type="http://schemas.openxmlformats.org/officeDocument/2006/relationships/slide" Target="/ppt/slides/slide8.xml" Id="R4cdd4bfe6fd24fb4" /><Relationship Type="http://schemas.openxmlformats.org/officeDocument/2006/relationships/slide" Target="/ppt/slides/slide9.xml" Id="R891c4acbe636433e" /><Relationship Type="http://schemas.openxmlformats.org/officeDocument/2006/relationships/slide" Target="/ppt/slides/slide10.xml" Id="R54ca86b4ede44aa3" /><Relationship Type="http://schemas.openxmlformats.org/officeDocument/2006/relationships/slide" Target="/ppt/slides/slide11.xml" Id="R3a4c90c104ab4cac" /><Relationship Type="http://schemas.openxmlformats.org/officeDocument/2006/relationships/slide" Target="/ppt/slides/slide12.xml" Id="R6d6deb31a1ae46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059d7038b140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e46716e2e0418e" /><Relationship Type="http://schemas.openxmlformats.org/officeDocument/2006/relationships/notesMaster" Target="/ppt/notesMasters/notesMaster1.xml" Id="R21aee45fadda4b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61756953df4438" /><Relationship Type="http://schemas.openxmlformats.org/officeDocument/2006/relationships/notesMaster" Target="/ppt/notesMasters/notesMaster1.xml" Id="R3de7035cb7a749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10fbf33b3147e4" /><Relationship Type="http://schemas.openxmlformats.org/officeDocument/2006/relationships/notesMaster" Target="/ppt/notesMasters/notesMaster1.xml" Id="Rb2429a48f86e46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a1b4e99d43469d" /><Relationship Type="http://schemas.openxmlformats.org/officeDocument/2006/relationships/notesMaster" Target="/ppt/notesMasters/notesMaster1.xml" Id="R297b807f35a34a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d51e258d894e31" /><Relationship Type="http://schemas.openxmlformats.org/officeDocument/2006/relationships/notesMaster" Target="/ppt/notesMasters/notesMaster1.xml" Id="Raa9ba2d713084e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963b3a96494203" /><Relationship Type="http://schemas.openxmlformats.org/officeDocument/2006/relationships/notesMaster" Target="/ppt/notesMasters/notesMaster1.xml" Id="R9e5e3faac12347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12b335425e4acc" /><Relationship Type="http://schemas.openxmlformats.org/officeDocument/2006/relationships/notesMaster" Target="/ppt/notesMasters/notesMaster1.xml" Id="Rc1af080a33d94e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66ff64b48341fd" /><Relationship Type="http://schemas.openxmlformats.org/officeDocument/2006/relationships/notesMaster" Target="/ppt/notesMasters/notesMaster1.xml" Id="Rc07b9741a9e447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12d08b8d7a4004" /><Relationship Type="http://schemas.openxmlformats.org/officeDocument/2006/relationships/notesMaster" Target="/ppt/notesMasters/notesMaster1.xml" Id="Rc1d110ca9b7e46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63c8e6a1e74c32" /><Relationship Type="http://schemas.openxmlformats.org/officeDocument/2006/relationships/notesMaster" Target="/ppt/notesMasters/notesMaster1.xml" Id="R858d786747d742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9ae3cbf13944fa" /><Relationship Type="http://schemas.openxmlformats.org/officeDocument/2006/relationships/notesMaster" Target="/ppt/notesMasters/notesMaster1.xml" Id="Rc14301a959c041e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4e835ec45644d94" /><Relationship Type="http://schemas.openxmlformats.org/officeDocument/2006/relationships/notesMaster" Target="/ppt/notesMasters/notesMaster1.xml" Id="Rcf341d566f7a48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66bc2d846b44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87f1d405744b44" /><Relationship Type="http://schemas.openxmlformats.org/officeDocument/2006/relationships/slideLayout" Target="/ppt/slideLayouts/slideLayout1.xml" Id="R82174497724249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174497724249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36f19379f4f72" /><Relationship Type="http://schemas.openxmlformats.org/officeDocument/2006/relationships/notesSlide" Target="/ppt/notesSlides/notesSlide1.xml" Id="R15cf14245f5948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5b33cbb4f4d43" /><Relationship Type="http://schemas.openxmlformats.org/officeDocument/2006/relationships/notesSlide" Target="/ppt/notesSlides/notesSlide2.xml" Id="R41a7a0de1cbb49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4162bb3274fd9" /><Relationship Type="http://schemas.openxmlformats.org/officeDocument/2006/relationships/notesSlide" Target="/ppt/notesSlides/notesSlide3.xml" Id="R6aefcc2d529142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1073545ff4d64" /><Relationship Type="http://schemas.openxmlformats.org/officeDocument/2006/relationships/notesSlide" Target="/ppt/notesSlides/notesSlide4.xml" Id="R35219c8e2b884e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52068883a54c18" /><Relationship Type="http://schemas.openxmlformats.org/officeDocument/2006/relationships/notesSlide" Target="/ppt/notesSlides/notesSlide5.xml" Id="R7105b487974547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b07cb25ba4fb3" /><Relationship Type="http://schemas.openxmlformats.org/officeDocument/2006/relationships/notesSlide" Target="/ppt/notesSlides/notesSlide6.xml" Id="Rde77fe3513b644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18f6f72f946a6" /><Relationship Type="http://schemas.openxmlformats.org/officeDocument/2006/relationships/notesSlide" Target="/ppt/notesSlides/notesSlide7.xml" Id="R05bae1d14ced4d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94ac4a66924079" /><Relationship Type="http://schemas.openxmlformats.org/officeDocument/2006/relationships/notesSlide" Target="/ppt/notesSlides/notesSlide8.xml" Id="R7fd13c56ad0441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723672c204162" /><Relationship Type="http://schemas.openxmlformats.org/officeDocument/2006/relationships/notesSlide" Target="/ppt/notesSlides/notesSlide9.xml" Id="R8753a03bac3f45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bc909aaff4b3c" /><Relationship Type="http://schemas.openxmlformats.org/officeDocument/2006/relationships/notesSlide" Target="/ppt/notesSlides/notesSlide10.xml" Id="Ra939f981354f4ba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f9bb61ffd7425f" /><Relationship Type="http://schemas.openxmlformats.org/officeDocument/2006/relationships/notesSlide" Target="/ppt/notesSlides/notesSlide11.xml" Id="R73d60be97fa34c8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f93e00b674925" /><Relationship Type="http://schemas.openxmlformats.org/officeDocument/2006/relationships/notesSlide" Target="/ppt/notesSlides/notesSlide12.xml" Id="Rc3c5bb3989674d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B479DB-C180-4032-836C-B83FAB9B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0"/>
            <a:ext cx="466725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E3561"/>
          </a:solidFill>
          <a:ln xmlns:a="http://schemas.openxmlformats.org/drawingml/2006/main" w="9525">
            <a:solidFill>
              <a:srgbClr val="0E356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4DCC3-65E3-4CFE-86DC-FD08C220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23950"/>
            <a:ext cx="2190750" cy="438150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9FC8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5768E-853E-4550-8DA6-7A5AD51A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24000"/>
            <a:ext cx="1619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7C2AC5-6F95-4464-8A6A-83A5CAD4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81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666D8"/>
                </a:solidFill>
              </a:defRPr>
            </a:pPr>
            <a:r>
              <a:rPr sz="975" b="1" i="0">
                <a:solidFill>
                  <a:srgbClr val="1666D8"/>
                </a:solidFill>
              </a:rPr>
              <a:t>งานวันนี้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38FA7-8C98-401E-8EF6-D531C57C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52650"/>
            <a:ext cx="161925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A5D8B8-1462-491F-A90B-4F70A50E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52650"/>
            <a:ext cx="7620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78EAC-71F7-4BA6-B042-4D428DD5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81250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71B33"/>
                </a:solidFill>
              </a:defRPr>
            </a:pPr>
            <a:r>
              <a:rPr sz="1350" b="1" i="0">
                <a:solidFill>
                  <a:srgbClr val="071B33"/>
                </a:solidFill>
              </a:rPr>
              <a:t>รับเคสใหม่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1337B-CC69-4B08-8A87-7DD54E0D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38450"/>
            <a:ext cx="1162050" cy="-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F86"/>
                </a:solidFill>
              </a:defRPr>
            </a:pPr>
            <a:r>
              <a:rPr sz="1275" b="0" i="0">
                <a:solidFill>
                  <a:srgbClr val="5C6F86"/>
                </a:solidFill>
              </a:rPr>
              <a:t>3 งาน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DDF0EA-F7FA-41B6-ABB3-3D02E27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28950"/>
            <a:ext cx="161925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291099-5AEA-4FAA-9439-BCACBD5D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28950"/>
            <a:ext cx="7620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F5A08F-3D12-478A-8D06-50696BF4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57550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71B33"/>
                </a:solidFill>
              </a:defRPr>
            </a:pPr>
            <a:r>
              <a:rPr sz="1350" b="1" i="0">
                <a:solidFill>
                  <a:srgbClr val="071B33"/>
                </a:solidFill>
              </a:rPr>
              <a:t>กำลังทำ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189EA2-E008-4C64-ACE7-23A8F761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14750"/>
            <a:ext cx="1162050" cy="-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F86"/>
                </a:solidFill>
              </a:defRPr>
            </a:pPr>
            <a:r>
              <a:rPr sz="1275" b="0" i="0">
                <a:solidFill>
                  <a:srgbClr val="5C6F86"/>
                </a:solidFill>
              </a:rPr>
              <a:t>5 งาน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D92F3C-6928-4295-93B6-D64CDAB7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05250"/>
            <a:ext cx="161925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72A5A1-0E6E-4E85-AEFB-7A121515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05250"/>
            <a:ext cx="7620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497"/>
          </a:solidFill>
          <a:ln xmlns:a="http://schemas.openxmlformats.org/drawingml/2006/main" w="9525">
            <a:solidFill>
              <a:srgbClr val="12B49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01592-AD11-49BC-B792-401F3A9F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133850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71B33"/>
                </a:solidFill>
              </a:defRPr>
            </a:pPr>
            <a:r>
              <a:rPr sz="1350" b="1" i="0">
                <a:solidFill>
                  <a:srgbClr val="071B33"/>
                </a:solidFill>
              </a:rPr>
              <a:t>ปิดงานแล้ว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8F4746-4F09-4F33-9C85-DB975A2A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591050"/>
            <a:ext cx="1162050" cy="-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C6F86"/>
                </a:solidFill>
              </a:defRPr>
            </a:pPr>
            <a:r>
              <a:rPr sz="1200" b="0" i="0">
                <a:solidFill>
                  <a:srgbClr val="5C6F86"/>
                </a:solidFill>
              </a:rPr>
              <a:t>หลักฐานครบ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3AEC82-12FB-4A35-9571-EF584396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81050"/>
            <a:ext cx="3714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497">
              <a:alpha val="9412"/>
            </a:srgbClr>
          </a:solidFill>
          <a:ln xmlns:a="http://schemas.openxmlformats.org/drawingml/2006/main" w="9525">
            <a:solidFill>
              <a:srgbClr val="12B497">
                <a:alpha val="33333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AC22FF-8F23-4C11-B475-1B9D2283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8200"/>
            <a:ext cx="3448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12B497"/>
                </a:solidFill>
              </a:defRPr>
            </a:pPr>
            <a:r>
              <a:rPr sz="975" b="1" i="0">
                <a:solidFill>
                  <a:srgbClr val="12B497"/>
                </a:solidFill>
              </a:rPr>
              <a:t>ระบบดูแลหลังการขายสำหรับธุรกิจติดตั้งและบริการ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20A602-1917-4F08-97D5-D0752C32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286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FFFFFF"/>
                </a:solidFill>
              </a:defRPr>
            </a:pPr>
            <a:r>
              <a:rPr sz="3750" b="1" i="0">
                <a:solidFill>
                  <a:srgbClr val="FFFFFF"/>
                </a:solidFill>
              </a:rPr>
              <a:t>ขายอุปกรณ์แล้วจบงานไม่ได้</a:t>
            </a:r>
          </a:p>
          <a:p xmlns:a="http://schemas.openxmlformats.org/drawingml/2006/main">
            <a:pPr>
              <a:defRPr sz="3750" b="1" i="0">
                <a:solidFill>
                  <a:srgbClr val="FFFFFF"/>
                </a:solidFill>
              </a:defRPr>
            </a:pPr>
            <a:r>
              <a:rPr sz="3750" b="1" i="0">
                <a:solidFill>
                  <a:srgbClr val="FFFFFF"/>
                </a:solidFill>
              </a:rPr>
              <a:t>ความเชื่อใจอยู่หลังวันติดตั้ง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8867F4-2ED3-4078-80D5-587B8A74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581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C7D8EA"/>
                </a:solidFill>
              </a:defRPr>
            </a:pPr>
            <a:r>
              <a:rPr sz="1725" b="0" i="0">
                <a:solidFill>
                  <a:srgbClr val="C7D8EA"/>
                </a:solidFill>
              </a:rPr>
              <a:t>Post-Sales IoT Support ช่วยให้ทีมติดตั้ง ทีมซ่อม และแอดมินเห็นงานเดียวกันตั้งแต่รับเรื่องจนปิดงาน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2E8D3E-BB37-4A5F-A931-DB0254FD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29337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497"/>
          </a:solidFill>
          <a:ln xmlns:a="http://schemas.openxmlformats.org/drawingml/2006/main" w="9525">
            <a:solidFill>
              <a:srgbClr val="12B49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1FB376-2649-4DD2-BE6C-7C0AE19F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95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เริ่มจากทีมเล็ก ใช้งานจริงได้ทันที</a:t>
            </a:r>
          </a:p>
        </p:txBody>
      </p:sp>
    </p:spTree>
    <p:extLst>
      <p:ext uri="{BB962C8B-B14F-4D97-AF65-F5344CB8AC3E}">
        <p14:creationId xmlns:p14="http://schemas.microsoft.com/office/powerpoint/2010/main" val="11318340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8F15CB-B694-435C-8DF5-7406FFC4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9525">
            <a:solidFill>
              <a:srgbClr val="071B3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1FEDE-3BED-4EF0-8203-1ACEA210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TYT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C1507-EB0B-42D2-B949-9B2B55EA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57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5C6F86"/>
                </a:solidFill>
              </a:defRPr>
            </a:pPr>
            <a:r>
              <a:rPr sz="975" b="0" i="0">
                <a:solidFill>
                  <a:srgbClr val="5C6F86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F9635-A1B0-40BE-ABB3-FE935817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2395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071B33"/>
                </a:solidFill>
              </a:defRPr>
            </a:pPr>
            <a:r>
              <a:rPr sz="3000" b="1" i="0">
                <a:solidFill>
                  <a:srgbClr val="071B33"/>
                </a:solidFill>
              </a:rPr>
              <a:t>ลูกค้าไม่ได้จำแค่วันที่ซื้อ แต่จำวันที่มีปัญหา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D65D30-1B78-4A93-B82A-B461B477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733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C6F86"/>
                </a:solidFill>
              </a:defRPr>
            </a:pPr>
            <a:r>
              <a:rPr sz="1500" b="0" i="0">
                <a:solidFill>
                  <a:srgbClr val="5C6F86"/>
                </a:solidFill>
              </a:rPr>
              <a:t>ถ้าวันนั้นทีมตอบช้า หาเรื่องไม่เจอ หรือไม่มีหลักฐาน งานหลังการขายจะกลายเป็นต้นทุนทันที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C3D558-FC3C-47BD-B390-C5CA38EF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24765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605549-D404-47B3-9109-1A130CAB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85DD2B-B8A4-4D49-881B-BB4C0DFF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F4444">
              <a:alpha val="12549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A06499-3743-4B1C-BEC4-41099FE7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67075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EF4444"/>
                </a:solidFill>
              </a:defRPr>
            </a:pPr>
            <a:r>
              <a:rPr sz="1425" b="1" i="0">
                <a:solidFill>
                  <a:srgbClr val="EF4444"/>
                </a:solidFill>
              </a:rPr>
              <a:t>!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578899-A2E1-48E5-A9CA-8C76AE25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81350"/>
            <a:ext cx="144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71B33"/>
                </a:solidFill>
              </a:defRPr>
            </a:pPr>
            <a:r>
              <a:rPr sz="1650" b="1" i="0">
                <a:solidFill>
                  <a:srgbClr val="071B33"/>
                </a:solidFill>
              </a:rPr>
              <a:t>เคสรั่ว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D885FC-A635-4FA8-BFCC-7129125A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00450"/>
            <a:ext cx="1447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F86"/>
                </a:solidFill>
              </a:defRPr>
            </a:pPr>
            <a:r>
              <a:rPr sz="1275" b="0" i="0">
                <a:solidFill>
                  <a:srgbClr val="5C6F86"/>
                </a:solidFill>
              </a:rPr>
              <a:t>รับเรื่องแล้วไม่มีเจ้าของชัดเจน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C05F06-2DC7-47CD-AAE6-AA1FC9E4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71800"/>
            <a:ext cx="24765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2B3302-D5F2-4683-BA4E-531EA853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71800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11D8A7-AF1C-4E99-9D80-4E40AF47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813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59E0B">
              <a:alpha val="12549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898EFF-9173-4A4C-9887-ED219F04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267075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59E0B"/>
                </a:solidFill>
              </a:defRPr>
            </a:pPr>
            <a:r>
              <a:rPr sz="1425" b="1" i="0">
                <a:solidFill>
                  <a:srgbClr val="F59E0B"/>
                </a:solidFill>
              </a:rPr>
              <a:t>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D062DC-78F5-409A-B4C9-E67FDC7B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81350"/>
            <a:ext cx="144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71B33"/>
                </a:solidFill>
              </a:defRPr>
            </a:pPr>
            <a:r>
              <a:rPr sz="1650" b="1" i="0">
                <a:solidFill>
                  <a:srgbClr val="071B33"/>
                </a:solidFill>
              </a:rPr>
              <a:t>ข้อมูลกระจาย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97E70F-F889-43F2-8F8F-C2CB670A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00450"/>
            <a:ext cx="1447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F86"/>
                </a:solidFill>
              </a:defRPr>
            </a:pPr>
            <a:r>
              <a:rPr sz="1275" b="0" i="0">
                <a:solidFill>
                  <a:srgbClr val="5C6F86"/>
                </a:solidFill>
              </a:rPr>
              <a:t>แชต รูป และ serial อยู่คนละที่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BDD3E4-34D9-4A59-8157-57BFE8F1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71800"/>
            <a:ext cx="24765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BB5503-35F9-4C11-A29E-43686CC1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71800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6D8"/>
          </a:solidFill>
          <a:ln xmlns:a="http://schemas.openxmlformats.org/drawingml/2006/main" w="9525">
            <a:solidFill>
              <a:srgbClr val="1666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FBDE56-6695-4569-ADE3-678017E8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813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666D8">
              <a:alpha val="12549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CF388E-D03B-4497-9430-DA0AF9AC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67075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666D8"/>
                </a:solidFill>
              </a:defRPr>
            </a:pPr>
            <a:r>
              <a:rPr sz="1425" b="1" i="0">
                <a:solidFill>
                  <a:srgbClr val="1666D8"/>
                </a:solidFill>
              </a:rPr>
              <a:t>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744675-DD4C-4D80-BFDD-DB986866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81350"/>
            <a:ext cx="144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71B33"/>
                </a:solidFill>
              </a:defRPr>
            </a:pPr>
            <a:r>
              <a:rPr sz="1650" b="1" i="0">
                <a:solidFill>
                  <a:srgbClr val="071B33"/>
                </a:solidFill>
              </a:rPr>
              <a:t>ตามงานยาก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3D3724-ACBA-4281-B552-D10AB936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00450"/>
            <a:ext cx="1447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F86"/>
                </a:solidFill>
              </a:defRPr>
            </a:pPr>
            <a:r>
              <a:rPr sz="1275" b="0" i="0">
                <a:solidFill>
                  <a:srgbClr val="5C6F86"/>
                </a:solidFill>
              </a:rPr>
              <a:t>แอดมินต้องถามช่างซ้ำเพื่ออัปเดตลูกค้า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92C7C7-459B-416B-9A60-C18135B0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71800"/>
            <a:ext cx="23812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A45DCE-F016-4724-AFD5-81A97504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71800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497"/>
          </a:solidFill>
          <a:ln xmlns:a="http://schemas.openxmlformats.org/drawingml/2006/main" w="9525">
            <a:solidFill>
              <a:srgbClr val="12B49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D074DE-0033-4277-AA9F-D485EEBD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813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2B497">
              <a:alpha val="12549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ACC9B1-61EB-4865-945A-7471A331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67075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2B497"/>
                </a:solidFill>
              </a:defRPr>
            </a:pPr>
            <a:r>
              <a:rPr sz="1425" b="1" i="0">
                <a:solidFill>
                  <a:srgbClr val="12B497"/>
                </a:solidFill>
              </a:rPr>
              <a:t>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98E9D1-08E0-4FD6-B176-346B75A9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181350"/>
            <a:ext cx="1352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71B33"/>
                </a:solidFill>
              </a:defRPr>
            </a:pPr>
            <a:r>
              <a:rPr sz="1650" b="1" i="0">
                <a:solidFill>
                  <a:srgbClr val="071B33"/>
                </a:solidFill>
              </a:rPr>
              <a:t>เสียโอกาส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0337DB-2BC3-4CE4-BAB0-E3A0C842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600450"/>
            <a:ext cx="1352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F86"/>
                </a:solidFill>
              </a:defRPr>
            </a:pPr>
            <a:r>
              <a:rPr sz="1275" b="0" i="0">
                <a:solidFill>
                  <a:srgbClr val="5C6F86"/>
                </a:solidFill>
              </a:rPr>
              <a:t>หมดรอบดูแลแล้วไม่มีใครชวนต่อบริการ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41F62F-8AA8-49F0-9D04-2F72E3D6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62550"/>
            <a:ext cx="99060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9525">
            <a:solidFill>
              <a:srgbClr val="071B3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BF1573-1F10-4F03-9AB3-FAA012B2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ปัญหาจริงไม่ใช่ไม่มีช่าง แต่คือไม่มีระบบที่ทำให้ทุกคนเห็นภาพเดียวกัน</a:t>
            </a:r>
          </a:p>
        </p:txBody>
      </p:sp>
    </p:spTree>
    <p:extLst>
      <p:ext uri="{BB962C8B-B14F-4D97-AF65-F5344CB8AC3E}">
        <p14:creationId xmlns:p14="http://schemas.microsoft.com/office/powerpoint/2010/main" val="8981213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7A388D-AAEB-4022-9545-4B9C0826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9525">
            <a:solidFill>
              <a:srgbClr val="071B3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91F18-1B80-408F-9A01-80B943C7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TYT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F6B9F-2B8E-43E3-90BB-47FE2E27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57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5C6F86"/>
                </a:solidFill>
              </a:defRPr>
            </a:pPr>
            <a:r>
              <a:rPr sz="975" b="0" i="0">
                <a:solidFill>
                  <a:srgbClr val="5C6F86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37154E-19C5-44DB-B32D-A7D767FE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2395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071B33"/>
                </a:solidFill>
              </a:defRPr>
            </a:pPr>
            <a:r>
              <a:rPr sz="3000" b="1" i="0">
                <a:solidFill>
                  <a:srgbClr val="071B33"/>
                </a:solidFill>
              </a:rPr>
              <a:t>ต้นทุนที่ซ่อนอยู่ไม่ได้อยู่ในอะไหล่ แต่อยู่ในความไม่ชัดเจน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05BD4-BDEB-4D54-A14A-3F17E4BE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733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C6F86"/>
                </a:solidFill>
              </a:defRPr>
            </a:pPr>
            <a:r>
              <a:rPr sz="1500" b="0" i="0">
                <a:solidFill>
                  <a:srgbClr val="5C6F86"/>
                </a:solidFill>
              </a:rPr>
              <a:t>งานบริการที่ไม่มีระบบทำให้ทีมเสียเวลา และทำให้ลูกค้ารู้สึกว่าไม่มีใครดูแล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8481B-9ACD-4811-8542-519FFC08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3812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4444">
                <a:alpha val="33333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DC1A0C-E1E4-4D85-ACEF-385034CC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051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EF4444"/>
                </a:solidFill>
              </a:defRPr>
            </a:pPr>
            <a:r>
              <a:rPr sz="2700" b="1" i="0">
                <a:solidFill>
                  <a:srgbClr val="EF4444"/>
                </a:solidFill>
              </a:rPr>
              <a:t>ตามงานซ้ำ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A52475-3C0B-41F1-A19A-9F241242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8140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C6F86"/>
                </a:solidFill>
              </a:defRPr>
            </a:pPr>
            <a:r>
              <a:rPr sz="1200" b="0" i="0">
                <a:solidFill>
                  <a:srgbClr val="5C6F86"/>
                </a:solidFill>
              </a:rPr>
              <a:t>เวลาที่เสียไปกับการถามสถานะ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35659C-5ADA-4C2C-B078-8F539D79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57500"/>
            <a:ext cx="23812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>
                <a:alpha val="33333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1AFD80-CAA9-49FB-9472-A06771BE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051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59E0B"/>
                </a:solidFill>
              </a:defRPr>
            </a:pPr>
            <a:r>
              <a:rPr sz="2700" b="1" i="0">
                <a:solidFill>
                  <a:srgbClr val="F59E0B"/>
                </a:solidFill>
              </a:rPr>
              <a:t>ตอบยาก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30A489-23A2-48B6-97A2-DE904205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58140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C6F86"/>
                </a:solidFill>
              </a:defRPr>
            </a:pPr>
            <a:r>
              <a:rPr sz="1200" b="0" i="0">
                <a:solidFill>
                  <a:srgbClr val="5C6F86"/>
                </a:solidFill>
              </a:rPr>
              <a:t>หลักฐานไม่ครบเมื่อลูกค้าทักกลับ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70DC56-C3A2-432D-9C46-4DCD81D3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23812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66D8">
                <a:alpha val="33333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B39CB9-93E2-49D1-8FB6-EFA4115B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051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666D8"/>
                </a:solidFill>
              </a:defRPr>
            </a:pPr>
            <a:r>
              <a:rPr sz="2700" b="1" i="0">
                <a:solidFill>
                  <a:srgbClr val="1666D8"/>
                </a:solidFill>
              </a:rPr>
              <a:t>เริ่มใหม่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3DB1BD-7986-42A2-A8F5-CE461931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8140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C6F86"/>
                </a:solidFill>
              </a:defRPr>
            </a:pPr>
            <a:r>
              <a:rPr sz="1200" b="0" i="0">
                <a:solidFill>
                  <a:srgbClr val="5C6F86"/>
                </a:solidFill>
              </a:rPr>
              <a:t>ประวัติงานไม่ต่อเนื่องเมื่อเปลี่ยนคนดูแล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884B36-4EFF-4A5B-8020-0D1754AB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57500"/>
            <a:ext cx="23812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2B497">
                <a:alpha val="33333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90D72B-FFDC-4BD4-888A-8336080F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051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2B497"/>
                </a:solidFill>
              </a:defRPr>
            </a:pPr>
            <a:r>
              <a:rPr sz="2700" b="1" i="0">
                <a:solidFill>
                  <a:srgbClr val="12B497"/>
                </a:solidFill>
              </a:rPr>
              <a:t>พลาดโอกาส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C9D117-7C3A-468E-907C-982C5653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58140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C6F86"/>
                </a:solidFill>
              </a:defRPr>
            </a:pPr>
            <a:r>
              <a:rPr sz="1200" b="0" i="0">
                <a:solidFill>
                  <a:srgbClr val="5C6F86"/>
                </a:solidFill>
              </a:rPr>
              <a:t>รอบ service ที่ควรสร้างความสัมพันธ์ต่อ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D688EF-63AC-457D-A849-0CBE16AB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435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071B33"/>
                </a:solidFill>
              </a:defRPr>
            </a:pPr>
            <a:r>
              <a:rPr sz="2025" b="1" i="0">
                <a:solidFill>
                  <a:srgbClr val="071B33"/>
                </a:solidFill>
              </a:rPr>
              <a:t>ระบบนี้จึงไม่ได้ขายแค่ “จัดการงาน” แต่ขายความมั่นใจว่าลูกค้าจะไม่ถูกทิ้งหลังติดตั้ง</a:t>
            </a:r>
          </a:p>
        </p:txBody>
      </p:sp>
    </p:spTree>
    <p:extLst>
      <p:ext uri="{BB962C8B-B14F-4D97-AF65-F5344CB8AC3E}">
        <p14:creationId xmlns:p14="http://schemas.microsoft.com/office/powerpoint/2010/main" val="759587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98E704-CA36-4FC6-A70E-24C052A7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9525">
            <a:solidFill>
              <a:srgbClr val="071B3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F7CAE6-F56E-4386-B09C-FCB3CD44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TYT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6E738-DE91-4BA4-AB3C-C647D101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57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5C6F86"/>
                </a:solidFill>
              </a:defRPr>
            </a:pPr>
            <a:r>
              <a:rPr sz="975" b="0" i="0">
                <a:solidFill>
                  <a:srgbClr val="5C6F86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883C0-8CB9-4F84-A37F-27B1335E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2395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071B33"/>
                </a:solidFill>
              </a:defRPr>
            </a:pPr>
            <a:r>
              <a:rPr sz="3000" b="1" i="0">
                <a:solidFill>
                  <a:srgbClr val="071B33"/>
                </a:solidFill>
              </a:rPr>
              <a:t>แนวทางคือทำให้งานหลังการขายมีเจ้าของ มีหลักฐาน และติดตามต่อได้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BD8CB2-876B-47E0-8036-381412A2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733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C6F86"/>
                </a:solidFill>
              </a:defRPr>
            </a:pPr>
            <a:r>
              <a:rPr sz="1500" b="0" i="0">
                <a:solidFill>
                  <a:srgbClr val="5C6F86"/>
                </a:solidFill>
              </a:rPr>
              <a:t>Post-Sales IoT รวมลูกค้า จุดติดตั้ง อุปกรณ์ เคส งานช่าง รูป และ LINE ไว้ในระบบเดียว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7EBFF-2038-4414-A6EB-F53C40CE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38375"/>
            <a:ext cx="381000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9525">
            <a:solidFill>
              <a:srgbClr val="071B3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1A57F-67E9-49A2-A927-0F6AB039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146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Post-Sales IoT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C0B85E-779B-4439-8FCF-C5CB55A3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57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C7D8EA"/>
                </a:solidFill>
              </a:defRPr>
            </a:pPr>
            <a:r>
              <a:rPr sz="1500" b="0" i="0">
                <a:solidFill>
                  <a:srgbClr val="C7D8EA"/>
                </a:solidFill>
              </a:rPr>
              <a:t>ศูนย์กลางงานบริการหลังขาย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F3663B-799E-4386-9BB7-2A8A14B4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62125"/>
            <a:ext cx="2333625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66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ABE2EA-94A7-472C-BF05-A8EE33BF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050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071B33"/>
                </a:solidFill>
              </a:defRPr>
            </a:pPr>
            <a:r>
              <a:rPr sz="1950" b="1" i="0">
                <a:solidFill>
                  <a:srgbClr val="071B33"/>
                </a:solidFill>
              </a:rPr>
              <a:t>ลูกค้า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F45768-2179-47F8-A831-8B9B80D7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2333625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B49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88F9B3-5D3D-4A01-892C-6235078D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481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071B33"/>
                </a:solidFill>
              </a:defRPr>
            </a:pPr>
            <a:r>
              <a:rPr sz="1950" b="1" i="0">
                <a:solidFill>
                  <a:srgbClr val="071B33"/>
                </a:solidFill>
              </a:rPr>
              <a:t>จุดติดตั้ง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CF9B78-AD17-4EF1-8C7C-319BDE15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62125"/>
            <a:ext cx="2333625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30D3B3-C698-423D-9814-4F467E5D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050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071B33"/>
                </a:solidFill>
              </a:defRPr>
            </a:pPr>
            <a:r>
              <a:rPr sz="1950" b="1" i="0">
                <a:solidFill>
                  <a:srgbClr val="071B33"/>
                </a:solidFill>
              </a:rPr>
              <a:t>อุปกรณ์จริง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D4FCEB-4015-416E-8005-D9E1688B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05250"/>
            <a:ext cx="2333625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6C7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8D81D9-6593-414F-ACAE-48FBA051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481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071B33"/>
                </a:solidFill>
              </a:defRPr>
            </a:pPr>
            <a:r>
              <a:rPr sz="1950" b="1" i="0">
                <a:solidFill>
                  <a:srgbClr val="071B33"/>
                </a:solidFill>
              </a:rPr>
              <a:t>LINE OA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3154E5-2CE0-45BC-8929-D833C886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4312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666D8"/>
                </a:solidFill>
              </a:defRPr>
            </a:pPr>
            <a:r>
              <a:rPr sz="2250" b="1" i="0">
                <a:solidFill>
                  <a:srgbClr val="1666D8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3F1DBE-511A-4897-9ABB-10E32B52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862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666D8"/>
                </a:solidFill>
              </a:defRPr>
            </a:pPr>
            <a:r>
              <a:rPr sz="2250" b="1" i="0">
                <a:solidFill>
                  <a:srgbClr val="1666D8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014F0C-DBDC-43FB-A19B-94FCAFE4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4312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666D8"/>
                </a:solidFill>
              </a:defRPr>
            </a:pPr>
            <a:r>
              <a:rPr sz="2250" b="1" i="0">
                <a:solidFill>
                  <a:srgbClr val="1666D8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34EA21-35EF-437C-88AF-090FEC32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862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666D8"/>
                </a:solidFill>
              </a:defRPr>
            </a:pPr>
            <a:r>
              <a:rPr sz="2250" b="1" i="0">
                <a:solidFill>
                  <a:srgbClr val="1666D8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6239208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368423-4F3E-48CE-B184-019A5A85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9525">
            <a:solidFill>
              <a:srgbClr val="071B3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9659F-09C5-448A-A06A-5F52074A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TYT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55A9B-4C83-46F8-920B-BE005C89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57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5C6F86"/>
                </a:solidFill>
              </a:defRPr>
            </a:pPr>
            <a:r>
              <a:rPr sz="975" b="0" i="0">
                <a:solidFill>
                  <a:srgbClr val="5C6F86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767D5F-EEBE-4E49-9565-2BAB332F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2395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071B33"/>
                </a:solidFill>
              </a:defRPr>
            </a:pPr>
            <a:r>
              <a:rPr sz="3000" b="1" i="0">
                <a:solidFill>
                  <a:srgbClr val="071B33"/>
                </a:solidFill>
              </a:rPr>
              <a:t>คนซื้อไม่ต้องเห็นระบบซับซ้อน เขาต้องเห็นว่างานไหลลื่นขึ้น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C57DE0-F7F0-4714-8DC2-36BC11E4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733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C6F86"/>
                </a:solidFill>
              </a:defRPr>
            </a:pPr>
            <a:r>
              <a:rPr sz="1500" b="0" i="0">
                <a:solidFill>
                  <a:srgbClr val="5C6F86"/>
                </a:solidFill>
              </a:rPr>
              <a:t>จากแจ้งปัญหาใน LINE ไปจนช่างปิดงาน ทุกขั้นตอนมีสถานะและหลักฐาน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038B40-FC9D-4029-A151-7A83B4CE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19050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6C7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BCC86F-46C0-4725-AE37-E94721DC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71B33"/>
                </a:solidFill>
              </a:defRPr>
            </a:pPr>
            <a:r>
              <a:rPr sz="1650" b="1" i="0">
                <a:solidFill>
                  <a:srgbClr val="071B33"/>
                </a:solidFill>
              </a:rPr>
              <a:t>ลูกค้าแจ้ง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3C9385-E560-4258-936D-CB7E503D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C6F86"/>
                </a:solidFill>
              </a:defRPr>
            </a:pPr>
            <a:r>
              <a:rPr sz="1200" b="0" i="0">
                <a:solidFill>
                  <a:srgbClr val="5C6F86"/>
                </a:solidFill>
              </a:rPr>
              <a:t>LINE / โทร / แอดมินบันทึก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BB9B9-B02B-4A31-BF99-7179022A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5623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666D8"/>
                </a:solidFill>
              </a:defRPr>
            </a:pPr>
            <a:r>
              <a:rPr sz="2250" b="1" i="0">
                <a:solidFill>
                  <a:srgbClr val="1666D8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CBD0D8-CA79-416A-BEBC-3F941737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52750"/>
            <a:ext cx="19050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66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ACACEA-6B0E-4E44-AE7A-88EF3C1D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3337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71B33"/>
                </a:solidFill>
              </a:defRPr>
            </a:pPr>
            <a:r>
              <a:rPr sz="1650" b="1" i="0">
                <a:solidFill>
                  <a:srgbClr val="071B33"/>
                </a:solidFill>
              </a:rPr>
              <a:t>สร้างเคส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412599-2F3A-4719-A8DD-D8029370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7528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C6F86"/>
                </a:solidFill>
              </a:defRPr>
            </a:pPr>
            <a:r>
              <a:rPr sz="1200" b="0" i="0">
                <a:solidFill>
                  <a:srgbClr val="5C6F86"/>
                </a:solidFill>
              </a:rPr>
              <a:t>ระบุบ้าน อุปกรณ์ อาการ และเวลานัด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4FC6E5-EA7B-4E83-AF98-F86FCF18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5623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666D8"/>
                </a:solidFill>
              </a:defRPr>
            </a:pPr>
            <a:r>
              <a:rPr sz="2250" b="1" i="0">
                <a:solidFill>
                  <a:srgbClr val="1666D8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0B435D-8B9C-4401-8E02-D029FF3F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52750"/>
            <a:ext cx="19050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B49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FE6E64-CC0D-44BF-8A68-338138EA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337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71B33"/>
                </a:solidFill>
              </a:defRPr>
            </a:pPr>
            <a:r>
              <a:rPr sz="1650" b="1" i="0">
                <a:solidFill>
                  <a:srgbClr val="071B33"/>
                </a:solidFill>
              </a:rPr>
              <a:t>ช่างรับงาน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536DDC-7725-4A5E-AF20-160D26B5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7528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C6F86"/>
                </a:solidFill>
              </a:defRPr>
            </a:pPr>
            <a:r>
              <a:rPr sz="1200" b="0" i="0">
                <a:solidFill>
                  <a:srgbClr val="5C6F86"/>
                </a:solidFill>
              </a:rPr>
              <a:t>เข้าหน้างานของฉันบนมือถือ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BAA43C-16B9-461E-9873-263623FA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5623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666D8"/>
                </a:solidFill>
              </a:defRPr>
            </a:pPr>
            <a:r>
              <a:rPr sz="2250" b="1" i="0">
                <a:solidFill>
                  <a:srgbClr val="1666D8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7ACA13-D14F-4E10-9848-60575E47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52750"/>
            <a:ext cx="19050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374725-F170-4559-B2CC-C541CE8D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337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71B33"/>
                </a:solidFill>
              </a:defRPr>
            </a:pPr>
            <a:r>
              <a:rPr sz="1650" b="1" i="0">
                <a:solidFill>
                  <a:srgbClr val="071B33"/>
                </a:solidFill>
              </a:rPr>
              <a:t>บันทึกหลักฐาน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0BE965-4B24-401F-9734-2F8BD990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528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C6F86"/>
                </a:solidFill>
              </a:defRPr>
            </a:pPr>
            <a:r>
              <a:rPr sz="1200" b="0" i="0">
                <a:solidFill>
                  <a:srgbClr val="5C6F86"/>
                </a:solidFill>
              </a:rPr>
              <a:t>รูป อะไหล่ สรุปผลซ่อม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539E91-A9FE-4DBE-83A8-406CEAFC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5623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666D8"/>
                </a:solidFill>
              </a:defRPr>
            </a:pPr>
            <a:r>
              <a:rPr sz="2250" b="1" i="0">
                <a:solidFill>
                  <a:srgbClr val="1666D8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C9F116-9513-4FCC-A9AB-E2296724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52750"/>
            <a:ext cx="19050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19050">
            <a:solidFill>
              <a:srgbClr val="071B3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0C441A-60F3-483C-AC15-257672AC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3337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ปิดงาน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C56329-65B1-49B0-85C9-8DDED737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7528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D7E7F5"/>
                </a:solidFill>
              </a:defRPr>
            </a:pPr>
            <a:r>
              <a:rPr sz="1200" b="0" i="0">
                <a:solidFill>
                  <a:srgbClr val="D7E7F5"/>
                </a:solidFill>
              </a:rPr>
              <a:t>แอดมินและลูกค้าเห็นประวัติ</a:t>
            </a:r>
          </a:p>
        </p:txBody>
      </p:sp>
    </p:spTree>
    <p:extLst>
      <p:ext uri="{BB962C8B-B14F-4D97-AF65-F5344CB8AC3E}">
        <p14:creationId xmlns:p14="http://schemas.microsoft.com/office/powerpoint/2010/main" val="8464257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CAC2AF-CD32-4093-ACA3-0ED6CD3D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9525">
            <a:solidFill>
              <a:srgbClr val="071B3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00B2FB-66FE-49B9-BE44-516037CF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TYT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8CACC0-E90F-42AE-AD5A-156E7D1A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57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5C6F86"/>
                </a:solidFill>
              </a:defRPr>
            </a:pPr>
            <a:r>
              <a:rPr sz="975" b="0" i="0">
                <a:solidFill>
                  <a:srgbClr val="5C6F86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28BF60-9117-41B8-8EEA-11CE7EAB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2395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071B33"/>
                </a:solidFill>
              </a:defRPr>
            </a:pPr>
            <a:r>
              <a:rPr sz="3000" b="1" i="0">
                <a:solidFill>
                  <a:srgbClr val="071B33"/>
                </a:solidFill>
              </a:rPr>
              <a:t>จุดขายสำคัญคือ LINE ทำให้ลูกค้าใช้งานง่าย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01044-A508-491F-ADC2-C9EF0041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733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C6F86"/>
                </a:solidFill>
              </a:defRPr>
            </a:pPr>
            <a:r>
              <a:rPr sz="1500" b="0" i="0">
                <a:solidFill>
                  <a:srgbClr val="5C6F86"/>
                </a:solidFill>
              </a:rPr>
              <a:t>ลูกค้าไม่ต้องจำเว็บ ไม่ต้องลงทะเบียนยาว แค่เพิ่มเพื่อนและส่งรหัสสั้น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4E9BD-14C0-40FD-AD33-99FD18FC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3095625" cy="3429000"/>
          </a:xfrm>
          <a:prstGeom xmlns:a="http://schemas.openxmlformats.org/drawingml/2006/main" prst="roundRect">
            <a:avLst>
              <a:gd name="adj" fmla="val 7385"/>
            </a:avLst>
          </a:prstGeom>
          <a:solidFill xmlns:a="http://schemas.openxmlformats.org/drawingml/2006/main">
            <a:srgbClr val="06C755"/>
          </a:solidFill>
          <a:ln xmlns:a="http://schemas.openxmlformats.org/drawingml/2006/main" w="9525">
            <a:solidFill>
              <a:srgbClr val="06C7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DD210-5FA0-4A99-97C9-24FFB5AC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241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LINE OA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757999-F13F-469A-89A6-7710B4AA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48000"/>
            <a:ext cx="1809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FFFFFF"/>
                </a:solidFill>
              </a:defRPr>
            </a:pPr>
            <a:r>
              <a:rPr sz="2025" b="0" i="0">
                <a:solidFill>
                  <a:srgbClr val="FFFFFF"/>
                </a:solidFill>
              </a:rPr>
              <a:t>เพิ่มเพื่อน</a:t>
            </a:r>
          </a:p>
          <a:p xmlns:a="http://schemas.openxmlformats.org/drawingml/2006/main">
            <a:pPr>
              <a:defRPr sz="2025" b="0" i="0">
                <a:solidFill>
                  <a:srgbClr val="FFFFFF"/>
                </a:solidFill>
              </a:defRPr>
            </a:pPr>
            <a:r>
              <a:rPr sz="2025" b="0" i="0">
                <a:solidFill>
                  <a:srgbClr val="FFFFFF"/>
                </a:solidFill>
              </a:rPr>
              <a:t>ส่งรหัส TYTC0000</a:t>
            </a:r>
          </a:p>
          <a:p xmlns:a="http://schemas.openxmlformats.org/drawingml/2006/main">
            <a:pPr>
              <a:defRPr sz="2025" b="0" i="0">
                <a:solidFill>
                  <a:srgbClr val="FFFFFF"/>
                </a:solidFill>
              </a:defRPr>
            </a:pPr>
            <a:r>
              <a:rPr sz="2025" b="0" i="0">
                <a:solidFill>
                  <a:srgbClr val="FFFFFF"/>
                </a:solidFill>
              </a:rPr>
              <a:t>แจ้งปัญหา</a:t>
            </a:r>
          </a:p>
          <a:p xmlns:a="http://schemas.openxmlformats.org/drawingml/2006/main">
            <a:pPr>
              <a:defRPr sz="2025" b="0" i="0">
                <a:solidFill>
                  <a:srgbClr val="FFFFFF"/>
                </a:solidFill>
              </a:defRPr>
            </a:pPr>
            <a:r>
              <a:rPr sz="2025" b="0" i="0">
                <a:solidFill>
                  <a:srgbClr val="FFFFFF"/>
                </a:solidFill>
              </a:rPr>
              <a:t>นัดหมาย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0D90EC-7F19-4337-BDC0-F9D60920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809750"/>
            <a:ext cx="57150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028E0C-A959-4B3C-8A2F-B47D9F51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809750"/>
            <a:ext cx="762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C755"/>
          </a:solidFill>
          <a:ln xmlns:a="http://schemas.openxmlformats.org/drawingml/2006/main" w="9525">
            <a:solidFill>
              <a:srgbClr val="06C7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6DED0-3619-418F-A2CF-E8BE5E9E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038350"/>
            <a:ext cx="525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71B33"/>
                </a:solidFill>
              </a:defRPr>
            </a:pPr>
            <a:r>
              <a:rPr sz="1800" b="1" i="0">
                <a:solidFill>
                  <a:srgbClr val="071B33"/>
                </a:solidFill>
              </a:rPr>
              <a:t>ผูกตัวตนลูกค้าให้ถูกคน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FC67B6-7487-467A-8D91-3EDD6D5B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495550"/>
            <a:ext cx="52578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F86"/>
                </a:solidFill>
              </a:defRPr>
            </a:pPr>
            <a:r>
              <a:rPr sz="1275" b="0" i="0">
                <a:solidFill>
                  <a:srgbClr val="5C6F86"/>
                </a:solidFill>
              </a:rPr>
              <a:t>เมื่อส่งรหัส ระบบรู้ว่า LINE นี้เป็นของลูกค้ารายไหนและจุดติดตั้งใด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46F4DF-C2F5-47A1-9EF5-D1C7C540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48000"/>
            <a:ext cx="57150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166BB5-FC11-44C4-ACCC-50842078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48000"/>
            <a:ext cx="762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497"/>
          </a:solidFill>
          <a:ln xmlns:a="http://schemas.openxmlformats.org/drawingml/2006/main" w="9525">
            <a:solidFill>
              <a:srgbClr val="12B49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D430D5-D38C-40CE-968F-88C5FBDC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276600"/>
            <a:ext cx="525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71B33"/>
                </a:solidFill>
              </a:defRPr>
            </a:pPr>
            <a:r>
              <a:rPr sz="1800" b="1" i="0">
                <a:solidFill>
                  <a:srgbClr val="071B33"/>
                </a:solidFill>
              </a:rPr>
              <a:t>ถามอาการตามรอบ service ได้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C4F02E-439A-4DC9-B628-5E8D3506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733800"/>
            <a:ext cx="52578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F86"/>
                </a:solidFill>
              </a:defRPr>
            </a:pPr>
            <a:r>
              <a:rPr sz="1275" b="0" i="0">
                <a:solidFill>
                  <a:srgbClr val="5C6F86"/>
                </a:solidFill>
              </a:rPr>
              <a:t>ถึงรอบดูแล ระบบส่งข้อความถามอาการและเปิดทางให้แจ้งเคสต่อได้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BD417B-EB84-47BB-8751-67BD1EC8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286250"/>
            <a:ext cx="57150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C2AD1D-235E-4C85-9BD0-E08A082F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286250"/>
            <a:ext cx="762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6D8"/>
          </a:solidFill>
          <a:ln xmlns:a="http://schemas.openxmlformats.org/drawingml/2006/main" w="9525">
            <a:solidFill>
              <a:srgbClr val="1666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7A2BA8-8796-4756-A609-3245252F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4514850"/>
            <a:ext cx="525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71B33"/>
                </a:solidFill>
              </a:defRPr>
            </a:pPr>
            <a:r>
              <a:rPr sz="1800" b="1" i="0">
                <a:solidFill>
                  <a:srgbClr val="071B33"/>
                </a:solidFill>
              </a:rPr>
              <a:t>ทีมช่างรู้เร็วขึ้นเมื่อมีเคสใหม่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33F52F-5989-42DA-BADC-7866F4FC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4972050"/>
            <a:ext cx="52578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F86"/>
                </a:solidFill>
              </a:defRPr>
            </a:pPr>
            <a:r>
              <a:rPr sz="1275" b="0" i="0">
                <a:solidFill>
                  <a:srgbClr val="5C6F86"/>
                </a:solidFill>
              </a:rPr>
              <a:t>เคสจากลูกค้าถูกส่งเข้าระบบและแจ้งเตือนไปยังทีมที่เกี่ยวข้อง</a:t>
            </a:r>
          </a:p>
        </p:txBody>
      </p:sp>
    </p:spTree>
    <p:extLst>
      <p:ext uri="{BB962C8B-B14F-4D97-AF65-F5344CB8AC3E}">
        <p14:creationId xmlns:p14="http://schemas.microsoft.com/office/powerpoint/2010/main" val="8966614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D1F3E2-FAB8-44B7-9FAD-095A9059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9525">
            <a:solidFill>
              <a:srgbClr val="071B3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CC3388-A461-4D07-998D-08A76A1C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TYT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4304E0-1410-43D8-A474-79CACAF8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57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5C6F86"/>
                </a:solidFill>
              </a:defRPr>
            </a:pPr>
            <a:r>
              <a:rPr sz="975" b="0" i="0">
                <a:solidFill>
                  <a:srgbClr val="5C6F86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0739AA-4472-45C9-A6E4-015FA3A9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2395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071B33"/>
                </a:solidFill>
              </a:defRPr>
            </a:pPr>
            <a:r>
              <a:rPr sz="3000" b="1" i="0">
                <a:solidFill>
                  <a:srgbClr val="071B33"/>
                </a:solidFill>
              </a:rPr>
              <a:t>แอดมินขายความมั่นใจให้ลูกค้าได้ เพราะมีข้อมูลพร้อมตอบ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12A9C-46EA-4681-9FC4-65117FB4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733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C6F86"/>
                </a:solidFill>
              </a:defRPr>
            </a:pPr>
            <a:r>
              <a:rPr sz="1500" b="0" i="0">
                <a:solidFill>
                  <a:srgbClr val="5C6F86"/>
                </a:solidFill>
              </a:rPr>
              <a:t>ไม่ต้องไล่เปิดแชตหลายห้องเพื่อหาว่างานถึงไหนหรือรูปอยู่ที่ใคร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0301F-35E2-4A3A-983A-15C6F84E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953000" cy="31432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D1CA59-92DF-4B95-A2F5-C93722DE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71B33"/>
                </a:solidFill>
              </a:defRPr>
            </a:pPr>
            <a:r>
              <a:rPr sz="2100" b="1" i="0">
                <a:solidFill>
                  <a:srgbClr val="071B33"/>
                </a:solidFill>
              </a:rPr>
              <a:t>ภาพรวมที่แอดมินเห็น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E0604-C7A5-4A47-919D-E6FC4D30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57500"/>
            <a:ext cx="1857375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4444">
                <a:alpha val="33333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83833D-2E16-452A-BDC0-1F2D8ACB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05150"/>
            <a:ext cx="1400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EF4444"/>
                </a:solidFill>
              </a:defRPr>
            </a:pPr>
            <a:r>
              <a:rPr sz="2700" b="1" i="0">
                <a:solidFill>
                  <a:srgbClr val="EF4444"/>
                </a:solidFill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2CE1BF-1C44-444F-A5A2-2ED89A2D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81400"/>
            <a:ext cx="1400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C6F86"/>
                </a:solidFill>
              </a:defRPr>
            </a:pPr>
            <a:r>
              <a:rPr sz="1200" b="0" i="0">
                <a:solidFill>
                  <a:srgbClr val="5C6F86"/>
                </a:solidFill>
              </a:rPr>
              <a:t>เคสรอรับ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DCD955-C048-4BD3-95B4-B99FFAA2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57500"/>
            <a:ext cx="1857375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>
                <a:alpha val="33333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F0B740-369F-4FEB-9938-ADD08633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05150"/>
            <a:ext cx="1400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59E0B"/>
                </a:solidFill>
              </a:defRPr>
            </a:pPr>
            <a:r>
              <a:rPr sz="2700" b="1" i="0">
                <a:solidFill>
                  <a:srgbClr val="F59E0B"/>
                </a:solidFill>
              </a:rPr>
              <a:t>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E82E5D-7FCC-45B7-9F26-C0E18066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81400"/>
            <a:ext cx="1400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C6F86"/>
                </a:solidFill>
              </a:defRPr>
            </a:pPr>
            <a:r>
              <a:rPr sz="1200" b="0" i="0">
                <a:solidFill>
                  <a:srgbClr val="5C6F86"/>
                </a:solidFill>
              </a:rPr>
              <a:t>งานกำลังทำ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4EB614-BCD0-4C52-9229-534D0D9D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05300"/>
            <a:ext cx="39433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B1136D-FD63-4748-B5B9-8AE352F0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910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666D8"/>
                </a:solidFill>
              </a:defRPr>
            </a:pPr>
            <a:r>
              <a:rPr sz="1200" b="1" i="0">
                <a:solidFill>
                  <a:srgbClr val="1666D8"/>
                </a:solidFill>
              </a:rPr>
              <a:t>กดดูรูปและรายละเอียดงานได้ทันที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5C8CE6-7E8E-42F0-8377-F7B38E1F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28625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A05550-BF8E-4E0A-B470-BE7BFA69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76200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6D8"/>
          </a:solidFill>
          <a:ln xmlns:a="http://schemas.openxmlformats.org/drawingml/2006/main" w="9525">
            <a:solidFill>
              <a:srgbClr val="1666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6B1212-9201-4980-AE6E-DCC7C132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1930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666D8">
              <a:alpha val="12549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4A0BEF-3975-4B37-B182-D7D40B4C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05025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666D8"/>
                </a:solidFill>
              </a:defRPr>
            </a:pPr>
            <a:r>
              <a:rPr sz="1425" b="1" i="0">
                <a:solidFill>
                  <a:srgbClr val="1666D8"/>
                </a:solidFill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AF0F8C-BE34-4B94-AAF4-B5F47FA0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19300"/>
            <a:ext cx="3257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71B33"/>
                </a:solidFill>
              </a:defRPr>
            </a:pPr>
            <a:r>
              <a:rPr sz="1650" b="1" i="0">
                <a:solidFill>
                  <a:srgbClr val="071B33"/>
                </a:solidFill>
              </a:rPr>
              <a:t>ตอบลูกค้าเร็วขึ้น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09B24F-21D0-4F26-A7D8-DC54275E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38400"/>
            <a:ext cx="3257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F86"/>
                </a:solidFill>
              </a:defRPr>
            </a:pPr>
            <a:r>
              <a:rPr sz="1275" b="0" i="0">
                <a:solidFill>
                  <a:srgbClr val="5C6F86"/>
                </a:solidFill>
              </a:rPr>
              <a:t>รู้สถานะล่าสุดโดยไม่ต้องโทรถามช่างก่อน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792781-65EB-48CC-B53E-ADC25266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95625"/>
            <a:ext cx="428625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968BFC-E615-41EB-AFD7-BEF3BD20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95625"/>
            <a:ext cx="76200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497"/>
          </a:solidFill>
          <a:ln xmlns:a="http://schemas.openxmlformats.org/drawingml/2006/main" w="9525">
            <a:solidFill>
              <a:srgbClr val="12B49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7F85C0-8AC8-4475-ABF7-BD34C58C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05175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2B497">
              <a:alpha val="12549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85C309-D44B-4B40-AEE4-A4132507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90900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2B497"/>
                </a:solidFill>
              </a:defRPr>
            </a:pPr>
            <a:r>
              <a:rPr sz="1425" b="1" i="0">
                <a:solidFill>
                  <a:srgbClr val="12B497"/>
                </a:solidFill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BE7D08-759A-42E9-9CB6-97F5697F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05175"/>
            <a:ext cx="3257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71B33"/>
                </a:solidFill>
              </a:defRPr>
            </a:pPr>
            <a:r>
              <a:rPr sz="1650" b="1" i="0">
                <a:solidFill>
                  <a:srgbClr val="071B33"/>
                </a:solidFill>
              </a:rPr>
              <a:t>ลดข้อโต้แย้งหลังงาน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B04933-30D1-4930-B884-6D2DB4F4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724275"/>
            <a:ext cx="3257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F86"/>
                </a:solidFill>
              </a:defRPr>
            </a:pPr>
            <a:r>
              <a:rPr sz="1275" b="0" i="0">
                <a:solidFill>
                  <a:srgbClr val="5C6F86"/>
                </a:solidFill>
              </a:rPr>
              <a:t>มีรูปและประวัติอุปกรณ์เป็นหลักฐาน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1ABD19-5FCF-49FE-AEEC-3F3C3098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81500"/>
            <a:ext cx="428625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96552C-C8A3-4230-8ED5-AA405737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81500"/>
            <a:ext cx="76200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4A9169-89C9-4B50-8A52-97446450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910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59E0B">
              <a:alpha val="12549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07F11E-6745-4995-8C8E-5C38E7EA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76775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59E0B"/>
                </a:solidFill>
              </a:defRPr>
            </a:pPr>
            <a:r>
              <a:rPr sz="1425" b="1" i="0">
                <a:solidFill>
                  <a:srgbClr val="F59E0B"/>
                </a:solidFill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F54B6C-013A-4B2D-AA1A-CDD1E8E6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591050"/>
            <a:ext cx="3257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71B33"/>
                </a:solidFill>
              </a:defRPr>
            </a:pPr>
            <a:r>
              <a:rPr sz="1650" b="1" i="0">
                <a:solidFill>
                  <a:srgbClr val="071B33"/>
                </a:solidFill>
              </a:rPr>
              <a:t>เห็นงานที่ควรติดตามต่อ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044694-25D0-4F4B-8E31-E357002F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010150"/>
            <a:ext cx="3257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F86"/>
                </a:solidFill>
              </a:defRPr>
            </a:pPr>
            <a:r>
              <a:rPr sz="1275" b="0" i="0">
                <a:solidFill>
                  <a:srgbClr val="5C6F86"/>
                </a:solidFill>
              </a:rPr>
              <a:t>รอบ service และประกันไม่หลุดจากสายตา</a:t>
            </a:r>
          </a:p>
        </p:txBody>
      </p:sp>
    </p:spTree>
    <p:extLst>
      <p:ext uri="{BB962C8B-B14F-4D97-AF65-F5344CB8AC3E}">
        <p14:creationId xmlns:p14="http://schemas.microsoft.com/office/powerpoint/2010/main" val="13655804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3EC652-4A71-4BBA-8250-2E3B6E26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9525">
            <a:solidFill>
              <a:srgbClr val="071B3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AF4C6-B160-4D0A-B0B5-183E2693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TYT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D2F969-5BA0-42B9-B762-4C60F255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57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5C6F86"/>
                </a:solidFill>
              </a:defRPr>
            </a:pPr>
            <a:r>
              <a:rPr sz="975" b="0" i="0">
                <a:solidFill>
                  <a:srgbClr val="5C6F86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6C6C09-3687-4D58-9B26-F0B89D3A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2395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071B33"/>
                </a:solidFill>
              </a:defRPr>
            </a:pPr>
            <a:r>
              <a:rPr sz="3000" b="1" i="0">
                <a:solidFill>
                  <a:srgbClr val="071B33"/>
                </a:solidFill>
              </a:rPr>
              <a:t>ช่างไม่ต้องกลับมาเขียนรายงานซ้ำ เพราะรายงานเกิดตอนทำงาน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595D76-4CC5-4167-A940-80BF4816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733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C6F86"/>
                </a:solidFill>
              </a:defRPr>
            </a:pPr>
            <a:r>
              <a:rPr sz="1500" b="0" i="0">
                <a:solidFill>
                  <a:srgbClr val="5C6F86"/>
                </a:solidFill>
              </a:rPr>
              <a:t>มือถือคือเครื่องมือหลักของช่าง รับงาน เพิ่มอุปกรณ์ ถ่ายรูป และปิดงานได้จากหน้างาน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F244B5-DB2E-4E48-837F-76593A69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2857500" cy="4095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9525">
            <a:solidFill>
              <a:srgbClr val="071B3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7C255-7196-4650-AB5C-3DB0A213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00250"/>
            <a:ext cx="22479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83A6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AD0AE-5F9D-4330-BA46-E479E566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145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งานของฉัน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5902F2-46C5-4308-8B37-8F6A153A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81300"/>
            <a:ext cx="2247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0179DA-8433-40C3-965C-B0F27084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575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D8E8F7"/>
                </a:solidFill>
              </a:defRPr>
            </a:pPr>
            <a:r>
              <a:rPr sz="1200" b="1" i="0">
                <a:solidFill>
                  <a:srgbClr val="D8E8F7"/>
                </a:solidFill>
              </a:rPr>
              <a:t>รับเคส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E2BA7D-4519-4830-A846-95C61A6A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76600"/>
            <a:ext cx="2247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716C51-106A-4800-BA02-3D7B6566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528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D8E8F7"/>
                </a:solidFill>
              </a:defRPr>
            </a:pPr>
            <a:r>
              <a:rPr sz="1200" b="1" i="0">
                <a:solidFill>
                  <a:srgbClr val="D8E8F7"/>
                </a:solidFill>
              </a:rPr>
              <a:t>เพิ่มลูกค้า/ไซต์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764F83-8EC0-4C2D-8407-39F78DB7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71900"/>
            <a:ext cx="2247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83117A-808D-4DEE-B942-DDADCC63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481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D8E8F7"/>
                </a:solidFill>
              </a:defRPr>
            </a:pPr>
            <a:r>
              <a:rPr sz="1200" b="1" i="0">
                <a:solidFill>
                  <a:srgbClr val="D8E8F7"/>
                </a:solidFill>
              </a:rPr>
              <a:t>เพิ่มอุปกรณ์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08EAD2-FDF4-4110-A330-298DADE7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2247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D6A7B9-BD2F-4902-879E-228F5CCA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434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D8E8F7"/>
                </a:solidFill>
              </a:defRPr>
            </a:pPr>
            <a:r>
              <a:rPr sz="1200" b="1" i="0">
                <a:solidFill>
                  <a:srgbClr val="D8E8F7"/>
                </a:solidFill>
              </a:rPr>
              <a:t>แนบรูป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99D288-F5FF-4BB3-9B38-139DA0A4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62500"/>
            <a:ext cx="2247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6C755"/>
          </a:solidFill>
          <a:ln xmlns:a="http://schemas.openxmlformats.org/drawingml/2006/main" w="9525">
            <a:solidFill>
              <a:srgbClr val="06C7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381A07-CE2F-4C34-B41A-82108BE3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387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ปิดงาน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420495-5124-40CA-B0AE-C41FFD45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09750"/>
            <a:ext cx="25717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C2D4D1-882D-4195-9740-0835AD0D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09750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6D8"/>
          </a:solidFill>
          <a:ln xmlns:a="http://schemas.openxmlformats.org/drawingml/2006/main" w="9525">
            <a:solidFill>
              <a:srgbClr val="1666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C34DA9-7900-4B91-817C-1C643683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38350"/>
            <a:ext cx="2114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71B33"/>
                </a:solidFill>
              </a:defRPr>
            </a:pPr>
            <a:r>
              <a:rPr sz="1650" b="1" i="0">
                <a:solidFill>
                  <a:srgbClr val="071B33"/>
                </a:solidFill>
              </a:rPr>
              <a:t>รับงานเอง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821803-F331-4430-BEF4-37B08B06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95550"/>
            <a:ext cx="2114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F86"/>
                </a:solidFill>
              </a:defRPr>
            </a:pPr>
            <a:r>
              <a:rPr sz="1275" b="0" i="0">
                <a:solidFill>
                  <a:srgbClr val="5C6F86"/>
                </a:solidFill>
              </a:rPr>
              <a:t>เห็นเคสทั้งหมดและกดรับเข้า “งานของฉัน”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E817D7-A7B3-424C-86B0-15E986CC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25717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421E9D-D403-475D-AA1E-A21D5CF3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497"/>
          </a:solidFill>
          <a:ln xmlns:a="http://schemas.openxmlformats.org/drawingml/2006/main" w="9525">
            <a:solidFill>
              <a:srgbClr val="12B49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22064B-82B7-4D3C-8B61-B34673F4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8350"/>
            <a:ext cx="2114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71B33"/>
                </a:solidFill>
              </a:defRPr>
            </a:pPr>
            <a:r>
              <a:rPr sz="1650" b="1" i="0">
                <a:solidFill>
                  <a:srgbClr val="071B33"/>
                </a:solidFill>
              </a:rPr>
              <a:t>ข้อมูลจริงกว่า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84B717-7206-42E1-8E3D-58C629E4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95550"/>
            <a:ext cx="2114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F86"/>
                </a:solidFill>
              </a:defRPr>
            </a:pPr>
            <a:r>
              <a:rPr sz="1275" b="0" i="0">
                <a:solidFill>
                  <a:srgbClr val="5C6F86"/>
                </a:solidFill>
              </a:rPr>
              <a:t>ช่างเพิ่มอุปกรณ์ที่ติดตั้งจริงจากหน้างาน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B7190A-320F-4A38-ADC8-E870B1BC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00500"/>
            <a:ext cx="25717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079A52-B157-4092-AB4F-B0590FB7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00500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60FFA6-48A3-4441-8D59-B68E5A4C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229100"/>
            <a:ext cx="2114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71B33"/>
                </a:solidFill>
              </a:defRPr>
            </a:pPr>
            <a:r>
              <a:rPr sz="1650" b="1" i="0">
                <a:solidFill>
                  <a:srgbClr val="071B33"/>
                </a:solidFill>
              </a:rPr>
              <a:t>หลักฐานครบ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DDDD98-B1D3-4BE3-B583-9305B3F5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686300"/>
            <a:ext cx="2114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F86"/>
                </a:solidFill>
              </a:defRPr>
            </a:pPr>
            <a:r>
              <a:rPr sz="1275" b="0" i="0">
                <a:solidFill>
                  <a:srgbClr val="5C6F86"/>
                </a:solidFill>
              </a:rPr>
              <a:t>รูปก่อน/หลังซ่อมแนบกับเคสโดยตรง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E6DB3F-3D7E-4AE9-971A-7CA1AF7B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00500"/>
            <a:ext cx="25717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9F7F55-C9A9-41E5-96CB-1DB42E1F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00500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C755"/>
          </a:solidFill>
          <a:ln xmlns:a="http://schemas.openxmlformats.org/drawingml/2006/main" w="9525">
            <a:solidFill>
              <a:srgbClr val="06C75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B64402-6E47-45A1-B5FC-E866AC89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29100"/>
            <a:ext cx="2114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71B33"/>
                </a:solidFill>
              </a:defRPr>
            </a:pPr>
            <a:r>
              <a:rPr sz="1650" b="1" i="0">
                <a:solidFill>
                  <a:srgbClr val="071B33"/>
                </a:solidFill>
              </a:rPr>
              <a:t>เริ่มใช้ง่าย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7656BC-DE3B-4CFC-82BD-C8EAF879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86300"/>
            <a:ext cx="2114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F86"/>
                </a:solidFill>
              </a:defRPr>
            </a:pPr>
            <a:r>
              <a:rPr sz="1275" b="0" i="0">
                <a:solidFill>
                  <a:srgbClr val="5C6F86"/>
                </a:solidFill>
              </a:rPr>
              <a:t>ใช้เป็น PWA หรือ APK บน Android ได้</a:t>
            </a:r>
          </a:p>
        </p:txBody>
      </p:sp>
    </p:spTree>
    <p:extLst>
      <p:ext uri="{BB962C8B-B14F-4D97-AF65-F5344CB8AC3E}">
        <p14:creationId xmlns:p14="http://schemas.microsoft.com/office/powerpoint/2010/main" val="8857035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F3C194-F03D-4D6E-B64F-D7309E90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9525">
            <a:solidFill>
              <a:srgbClr val="071B3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29A46-4DC7-464E-900D-D82C342C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TYT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20C873-7D06-49A8-8F21-96296FDC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57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5C6F86"/>
                </a:solidFill>
              </a:defRPr>
            </a:pPr>
            <a:r>
              <a:rPr sz="975" b="0" i="0">
                <a:solidFill>
                  <a:srgbClr val="5C6F86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31ED0-1EC1-42C4-B814-BA2A5460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2395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071B33"/>
                </a:solidFill>
              </a:defRPr>
            </a:pPr>
            <a:r>
              <a:rPr sz="3000" b="1" i="0">
                <a:solidFill>
                  <a:srgbClr val="071B33"/>
                </a:solidFill>
              </a:rPr>
              <a:t>สิ่งที่ทำให้ระบบนี้ต่างจาก LINE กลุ่มและ Excel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A1938A-E8B4-4F63-9DBD-7451964D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733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C6F86"/>
                </a:solidFill>
              </a:defRPr>
            </a:pPr>
            <a:r>
              <a:rPr sz="1500" b="0" i="0">
                <a:solidFill>
                  <a:srgbClr val="5C6F86"/>
                </a:solidFill>
              </a:rPr>
              <a:t>ไม่ใช่แค่บันทึกข้อมูล แต่เปลี่ยนข้อมูลให้กลายเป็นงานที่ตามต่อได้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A9224D-C623-47CC-8551-25A633C9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30480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CAC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BE987-7541-415E-A035-C53E7E74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762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3B165A-9733-4E78-A922-13641AFF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28850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071B33"/>
                </a:solidFill>
              </a:defRPr>
            </a:pPr>
            <a:r>
              <a:rPr sz="2025" b="1" i="0">
                <a:solidFill>
                  <a:srgbClr val="071B33"/>
                </a:solidFill>
              </a:rPr>
              <a:t>LINE กลุ่ม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BFC7D-A828-4664-AEE4-37E7FD74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25908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C6F86"/>
                </a:solidFill>
              </a:defRPr>
            </a:pPr>
            <a:r>
              <a:rPr sz="1500" b="0" i="0">
                <a:solidFill>
                  <a:srgbClr val="5C6F86"/>
                </a:solidFill>
              </a:rPr>
              <a:t>คุยเร็ว แต่ค้นประวัติยาก</a:t>
            </a:r>
          </a:p>
          <a:p xmlns:a="http://schemas.openxmlformats.org/drawingml/2006/main">
            <a:pPr>
              <a:defRPr sz="1500" b="0" i="0">
                <a:solidFill>
                  <a:srgbClr val="5C6F86"/>
                </a:solidFill>
              </a:defRPr>
            </a:pPr>
            <a:r>
              <a:rPr sz="1500" b="0" i="0">
                <a:solidFill>
                  <a:srgbClr val="5C6F86"/>
                </a:solidFill>
              </a:rPr>
              <a:t>รูปไหลหาย</a:t>
            </a:r>
          </a:p>
          <a:p xmlns:a="http://schemas.openxmlformats.org/drawingml/2006/main">
            <a:pPr>
              <a:defRPr sz="1500" b="0" i="0">
                <a:solidFill>
                  <a:srgbClr val="5C6F86"/>
                </a:solidFill>
              </a:defRPr>
            </a:pPr>
            <a:r>
              <a:rPr sz="1500" b="0" i="0">
                <a:solidFill>
                  <a:srgbClr val="5C6F86"/>
                </a:solidFill>
              </a:rPr>
              <a:t>ไม่รู้เจ้าของงาน</a:t>
            </a:r>
          </a:p>
          <a:p xmlns:a="http://schemas.openxmlformats.org/drawingml/2006/main">
            <a:pPr>
              <a:defRPr sz="1500" b="0" i="0">
                <a:solidFill>
                  <a:srgbClr val="5C6F86"/>
                </a:solidFill>
              </a:defRPr>
            </a:pPr>
            <a:r>
              <a:rPr sz="1500" b="0" i="0">
                <a:solidFill>
                  <a:srgbClr val="5C6F86"/>
                </a:solidFill>
              </a:rPr>
              <a:t>วัดผลทีมไม่ได้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5CA5D2-6EF6-4F5F-8F8B-CB0D2CEA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30480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5E2"/>
          </a:solidFill>
          <a:ln xmlns:a="http://schemas.openxmlformats.org/drawingml/2006/main" w="9525">
            <a:solidFill>
              <a:srgbClr val="FFE0A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6BB2E6-CAA9-4F74-ADBA-B31BF106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762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9DD059-3EE5-49EF-AC4B-4798FA82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28850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071B33"/>
                </a:solidFill>
              </a:defRPr>
            </a:pPr>
            <a:r>
              <a:rPr sz="2025" b="1" i="0">
                <a:solidFill>
                  <a:srgbClr val="071B33"/>
                </a:solidFill>
              </a:rPr>
              <a:t>Excel / Sheet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FD4459-03B4-4B86-85E8-A3C28150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686050"/>
            <a:ext cx="25908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C6F86"/>
                </a:solidFill>
              </a:defRPr>
            </a:pPr>
            <a:r>
              <a:rPr sz="1500" b="0" i="0">
                <a:solidFill>
                  <a:srgbClr val="5C6F86"/>
                </a:solidFill>
              </a:rPr>
              <a:t>เก็บข้อมูลได้</a:t>
            </a:r>
          </a:p>
          <a:p xmlns:a="http://schemas.openxmlformats.org/drawingml/2006/main">
            <a:pPr>
              <a:defRPr sz="1500" b="0" i="0">
                <a:solidFill>
                  <a:srgbClr val="5C6F86"/>
                </a:solidFill>
              </a:defRPr>
            </a:pPr>
            <a:r>
              <a:rPr sz="1500" b="0" i="0">
                <a:solidFill>
                  <a:srgbClr val="5C6F86"/>
                </a:solidFill>
              </a:rPr>
              <a:t>แต่ไม่เชื่อมรูปหน้างาน</a:t>
            </a:r>
          </a:p>
          <a:p xmlns:a="http://schemas.openxmlformats.org/drawingml/2006/main">
            <a:pPr>
              <a:defRPr sz="1500" b="0" i="0">
                <a:solidFill>
                  <a:srgbClr val="5C6F86"/>
                </a:solidFill>
              </a:defRPr>
            </a:pPr>
            <a:r>
              <a:rPr sz="1500" b="0" i="0">
                <a:solidFill>
                  <a:srgbClr val="5C6F86"/>
                </a:solidFill>
              </a:rPr>
              <a:t>ไม่แจ้งเตือนลูกค้า</a:t>
            </a:r>
          </a:p>
          <a:p xmlns:a="http://schemas.openxmlformats.org/drawingml/2006/main">
            <a:pPr>
              <a:defRPr sz="1500" b="0" i="0">
                <a:solidFill>
                  <a:srgbClr val="5C6F86"/>
                </a:solidFill>
              </a:defRPr>
            </a:pPr>
            <a:r>
              <a:rPr sz="1500" b="0" i="0">
                <a:solidFill>
                  <a:srgbClr val="5C6F86"/>
                </a:solidFill>
              </a:rPr>
              <a:t>ไม่ใช่ workflow จริง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B57BCF-CFFA-41D3-84F6-0B7E144B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30480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8FAF6"/>
          </a:solidFill>
          <a:ln xmlns:a="http://schemas.openxmlformats.org/drawingml/2006/main" w="9525">
            <a:solidFill>
              <a:srgbClr val="AEEB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6A2C22-4A90-49B9-9E91-085E1B7C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762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497"/>
          </a:solidFill>
          <a:ln xmlns:a="http://schemas.openxmlformats.org/drawingml/2006/main" w="9525">
            <a:solidFill>
              <a:srgbClr val="12B49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CB40FC-8FB4-471F-B359-9AEEE2D4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28850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071B33"/>
                </a:solidFill>
              </a:defRPr>
            </a:pPr>
            <a:r>
              <a:rPr sz="2025" b="1" i="0">
                <a:solidFill>
                  <a:srgbClr val="071B33"/>
                </a:solidFill>
              </a:rPr>
              <a:t>Post-Sales IoT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5E26F2-F4C1-4F9D-A4CC-CA6D9EF0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86050"/>
            <a:ext cx="25908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C6F86"/>
                </a:solidFill>
              </a:defRPr>
            </a:pPr>
            <a:r>
              <a:rPr sz="1500" b="0" i="0">
                <a:solidFill>
                  <a:srgbClr val="5C6F86"/>
                </a:solidFill>
              </a:rPr>
              <a:t>ข้อมูล + สถานะ + รูป</a:t>
            </a:r>
          </a:p>
          <a:p xmlns:a="http://schemas.openxmlformats.org/drawingml/2006/main">
            <a:pPr>
              <a:defRPr sz="1500" b="0" i="0">
                <a:solidFill>
                  <a:srgbClr val="5C6F86"/>
                </a:solidFill>
              </a:defRPr>
            </a:pPr>
            <a:r>
              <a:rPr sz="1500" b="0" i="0">
                <a:solidFill>
                  <a:srgbClr val="5C6F86"/>
                </a:solidFill>
              </a:rPr>
              <a:t>เชื่อม LINE OA</a:t>
            </a:r>
          </a:p>
          <a:p xmlns:a="http://schemas.openxmlformats.org/drawingml/2006/main">
            <a:pPr>
              <a:defRPr sz="1500" b="0" i="0">
                <a:solidFill>
                  <a:srgbClr val="5C6F86"/>
                </a:solidFill>
              </a:defRPr>
            </a:pPr>
            <a:r>
              <a:rPr sz="1500" b="0" i="0">
                <a:solidFill>
                  <a:srgbClr val="5C6F86"/>
                </a:solidFill>
              </a:rPr>
              <a:t>ช่างรับงานเอง</a:t>
            </a:r>
          </a:p>
          <a:p xmlns:a="http://schemas.openxmlformats.org/drawingml/2006/main">
            <a:pPr>
              <a:defRPr sz="1500" b="0" i="0">
                <a:solidFill>
                  <a:srgbClr val="5C6F86"/>
                </a:solidFill>
              </a:defRPr>
            </a:pPr>
            <a:r>
              <a:rPr sz="1500" b="0" i="0">
                <a:solidFill>
                  <a:srgbClr val="5C6F86"/>
                </a:solidFill>
              </a:rPr>
              <a:t>ติดตาม service ต่อได้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AE8B26-1053-4DE4-9173-41226F4C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00625"/>
            <a:ext cx="87630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9525">
            <a:solidFill>
              <a:srgbClr val="071B3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6CE232-F5F7-4EEA-901F-1C72EED5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339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จุดขายคือเปลี่ยนงานหลังบ้านที่กระจัดกระจายให้เป็นประสบการณ์บริการที่ลูกค้ารู้สึกได้</a:t>
            </a:r>
          </a:p>
        </p:txBody>
      </p:sp>
    </p:spTree>
    <p:extLst>
      <p:ext uri="{BB962C8B-B14F-4D97-AF65-F5344CB8AC3E}">
        <p14:creationId xmlns:p14="http://schemas.microsoft.com/office/powerpoint/2010/main" val="2192165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15B403-FC58-4F9C-8063-AFD5BDF4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9525">
            <a:solidFill>
              <a:srgbClr val="071B3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28C19-B38F-4A34-8D80-453120C8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TYT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2D7C29-337D-4674-8B17-1BE76724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57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5C6F86"/>
                </a:solidFill>
              </a:defRPr>
            </a:pPr>
            <a:r>
              <a:rPr sz="975" b="0" i="0">
                <a:solidFill>
                  <a:srgbClr val="5C6F86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60637-EEAE-4308-9E4F-DBF0BEC8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2395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071B33"/>
                </a:solidFill>
              </a:defRPr>
            </a:pPr>
            <a:r>
              <a:rPr sz="3000" b="1" i="0">
                <a:solidFill>
                  <a:srgbClr val="071B33"/>
                </a:solidFill>
              </a:rPr>
              <a:t>เหมาะกับธุรกิจที่รายได้ไม่ได้จบที่การขายครั้งแรก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739A6-A89C-4CC7-80A1-3E3C1688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733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C6F86"/>
                </a:solidFill>
              </a:defRPr>
            </a:pPr>
            <a:r>
              <a:rPr sz="1500" b="0" i="0">
                <a:solidFill>
                  <a:srgbClr val="5C6F86"/>
                </a:solidFill>
              </a:rPr>
              <a:t>โดยเฉพาะงานที่มีอุปกรณ์จริง มีการติดตั้ง มีรับประกัน และต้องกลับไปดูแลลูกค้า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429ADE-604D-4AA8-BA08-F2633BD9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62125"/>
            <a:ext cx="10096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E2A0E7-B3BE-4367-9A2D-6C6A3A5F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62125"/>
            <a:ext cx="7620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C755"/>
          </a:solidFill>
          <a:ln xmlns:a="http://schemas.openxmlformats.org/drawingml/2006/main" w="9525">
            <a:solidFill>
              <a:srgbClr val="06C7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0B9C2C-BB3E-4F79-80B2-05DF214B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990725"/>
            <a:ext cx="963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71B33"/>
                </a:solidFill>
              </a:defRPr>
            </a:pPr>
            <a:r>
              <a:rPr sz="1725" b="1" i="0">
                <a:solidFill>
                  <a:srgbClr val="071B33"/>
                </a:solidFill>
              </a:rPr>
              <a:t>ธุรกิจ IoT / Smart Farm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08ADC8-D5D7-4B34-BEE2-2D259009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47925"/>
            <a:ext cx="9639300" cy="-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C6F86"/>
                </a:solidFill>
              </a:defRPr>
            </a:pPr>
            <a:r>
              <a:rPr sz="1350" b="0" i="0">
                <a:solidFill>
                  <a:srgbClr val="5C6F86"/>
                </a:solidFill>
              </a:rPr>
              <a:t>มีอุปกรณ์หลายตัว หลายจุดติดตั้ง และต้องดูแลต่อเนื่อง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E4EC67-D428-4B50-916F-F26899FE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95575"/>
            <a:ext cx="10096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0CEF48-DB60-4E93-8D7B-70239C9C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95575"/>
            <a:ext cx="7620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6D8"/>
          </a:solidFill>
          <a:ln xmlns:a="http://schemas.openxmlformats.org/drawingml/2006/main" w="9525">
            <a:solidFill>
              <a:srgbClr val="1666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C47D54-BFB6-4CBE-BAF5-54F6D4AA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24175"/>
            <a:ext cx="963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71B33"/>
                </a:solidFill>
              </a:defRPr>
            </a:pPr>
            <a:r>
              <a:rPr sz="1725" b="1" i="0">
                <a:solidFill>
                  <a:srgbClr val="071B33"/>
                </a:solidFill>
              </a:rPr>
              <a:t>บริษัทติดตั้งระบบ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9D77F2-782A-4D0B-8460-C8B60793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81375"/>
            <a:ext cx="9639300" cy="-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C6F86"/>
                </a:solidFill>
              </a:defRPr>
            </a:pPr>
            <a:r>
              <a:rPr sz="1350" b="0" i="0">
                <a:solidFill>
                  <a:srgbClr val="5C6F86"/>
                </a:solidFill>
              </a:rPr>
              <a:t>ต้องเก็บรูปหน้างาน serial อุปกรณ์ และสรุปผลให้ลูกค้า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D57E50-B74A-4A26-9A54-C039D231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29025"/>
            <a:ext cx="10096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346F09-5D54-484D-8D8B-29AD3ABF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29025"/>
            <a:ext cx="7620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A5A12B-66B3-46B8-842D-2A8A1726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57625"/>
            <a:ext cx="963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71B33"/>
                </a:solidFill>
              </a:defRPr>
            </a:pPr>
            <a:r>
              <a:rPr sz="1725" b="1" i="0">
                <a:solidFill>
                  <a:srgbClr val="071B33"/>
                </a:solidFill>
              </a:rPr>
              <a:t>ทีมซ่อมบำรุง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A382A3-CF7D-4EC1-B395-3D221884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14825"/>
            <a:ext cx="9639300" cy="-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C6F86"/>
                </a:solidFill>
              </a:defRPr>
            </a:pPr>
            <a:r>
              <a:rPr sz="1350" b="0" i="0">
                <a:solidFill>
                  <a:srgbClr val="5C6F86"/>
                </a:solidFill>
              </a:rPr>
              <a:t>ต้องรับเคส แบ่งงาน และติดตามสถานะงานรายวัน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24F429-C02C-4D1C-AFD5-1B7988B6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62475"/>
            <a:ext cx="10096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E30DAE-C0B9-40BF-AD1D-89DD8063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62475"/>
            <a:ext cx="7620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497"/>
          </a:solidFill>
          <a:ln xmlns:a="http://schemas.openxmlformats.org/drawingml/2006/main" w="9525">
            <a:solidFill>
              <a:srgbClr val="12B49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F7429F-FFE7-4289-93B9-DEC45EDD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91075"/>
            <a:ext cx="963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71B33"/>
                </a:solidFill>
              </a:defRPr>
            </a:pPr>
            <a:r>
              <a:rPr sz="1725" b="1" i="0">
                <a:solidFill>
                  <a:srgbClr val="071B33"/>
                </a:solidFill>
              </a:rPr>
              <a:t>ผู้ให้บริการหลังการขาย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882FB8-BFB7-4F15-800B-FDE288CD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248275"/>
            <a:ext cx="9639300" cy="-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C6F86"/>
                </a:solidFill>
              </a:defRPr>
            </a:pPr>
            <a:r>
              <a:rPr sz="1350" b="0" i="0">
                <a:solidFill>
                  <a:srgbClr val="5C6F86"/>
                </a:solidFill>
              </a:rPr>
              <a:t>ต้องรักษาความสัมพันธ์ลูกค้าและชวนต่อ service ได้</a:t>
            </a:r>
          </a:p>
        </p:txBody>
      </p:sp>
    </p:spTree>
    <p:extLst>
      <p:ext uri="{BB962C8B-B14F-4D97-AF65-F5344CB8AC3E}">
        <p14:creationId xmlns:p14="http://schemas.microsoft.com/office/powerpoint/2010/main" val="16790693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6C1F24-83E6-4FEB-B2A7-3CD33360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9525">
            <a:solidFill>
              <a:srgbClr val="071B3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EB7771-0438-4142-8884-5C4DC623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TYT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FCD78F-9C35-4452-8FD4-A027353D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57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5C6F86"/>
                </a:solidFill>
              </a:defRPr>
            </a:pPr>
            <a:r>
              <a:rPr sz="975" b="0" i="0">
                <a:solidFill>
                  <a:srgbClr val="5C6F86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5F57C6-FE8A-4ED8-B551-16568580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2395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071B33"/>
                </a:solidFill>
              </a:defRPr>
            </a:pPr>
            <a:r>
              <a:rPr sz="3000" b="1" i="0">
                <a:solidFill>
                  <a:srgbClr val="071B33"/>
                </a:solidFill>
              </a:rPr>
              <a:t>เริ่มขายได้ด้วยข้อความง่าย 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53963-C8C1-45DD-B9B9-F0D300E1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733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C6F86"/>
                </a:solidFill>
              </a:defRPr>
            </a:pPr>
            <a:r>
              <a:rPr sz="1500" b="0" i="0">
                <a:solidFill>
                  <a:srgbClr val="5C6F86"/>
                </a:solidFill>
              </a:rPr>
              <a:t>ไม่ต้องพูดว่าเป็นระบบใหญ่ ให้พูดว่าเป็นเครื่องมือทำให้ทีมบริการไม่หลุดงาน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AB651-3689-43CD-A2C6-0DE18A08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28800"/>
            <a:ext cx="994410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9525">
            <a:solidFill>
              <a:srgbClr val="071B3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A8E22-C30F-4590-B9DD-4267A144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33625"/>
            <a:ext cx="8858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“ระบบนี้ช่วยให้คุณรู้ทันทีว่า ลูกค้ารายไหนมีอุปกรณ์อะไร อยู่ที่ไหน ใครรับงานอยู่ มีรูปหลักฐานหรือยัง และถึงรอบดูแลเมื่อไร”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292AFA-0ACA-42F7-BA1D-067F3901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71875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C7D8EA"/>
                </a:solidFill>
              </a:defRPr>
            </a:pPr>
            <a:r>
              <a:rPr sz="1425" b="0" i="0">
                <a:solidFill>
                  <a:srgbClr val="C7D8EA"/>
                </a:solidFill>
              </a:rPr>
              <a:t>นี่คือประโยคหลักสำหรับขายงาน เพราะคนซื้อจะเห็นภาพการใช้งานจริงทันที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9F79B8-84F4-4772-8C50-8FC1B974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0125"/>
            <a:ext cx="2667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B0DF65-92C5-41E7-8A29-8E5B5EDC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0125"/>
            <a:ext cx="762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6D8"/>
          </a:solidFill>
          <a:ln xmlns:a="http://schemas.openxmlformats.org/drawingml/2006/main" w="9525">
            <a:solidFill>
              <a:srgbClr val="1666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2DE7F9-5C91-493E-BC19-D886AD0D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038725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71B33"/>
                </a:solidFill>
              </a:defRPr>
            </a:pPr>
            <a:r>
              <a:rPr sz="1575" b="1" i="0">
                <a:solidFill>
                  <a:srgbClr val="071B33"/>
                </a:solidFill>
              </a:rPr>
              <a:t>ขายให้เจ้าของ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0CE5CE-1615-4D96-868A-13E77515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95925"/>
            <a:ext cx="22098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F86"/>
                </a:solidFill>
              </a:defRPr>
            </a:pPr>
            <a:r>
              <a:rPr sz="1275" b="0" i="0">
                <a:solidFill>
                  <a:srgbClr val="5C6F86"/>
                </a:solidFill>
              </a:rPr>
              <a:t>ลดงานหลุดและเพิ่มความน่าเชื่อถือ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D6D4F2-C2D0-46D3-AD4F-BF52F8C0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10125"/>
            <a:ext cx="2667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441DE8-91E7-456F-821B-B155A238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10125"/>
            <a:ext cx="762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497"/>
          </a:solidFill>
          <a:ln xmlns:a="http://schemas.openxmlformats.org/drawingml/2006/main" w="9525">
            <a:solidFill>
              <a:srgbClr val="12B49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24EF09-D3DF-4B31-AE1F-703A0FC1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038725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71B33"/>
                </a:solidFill>
              </a:defRPr>
            </a:pPr>
            <a:r>
              <a:rPr sz="1575" b="1" i="0">
                <a:solidFill>
                  <a:srgbClr val="071B33"/>
                </a:solidFill>
              </a:rPr>
              <a:t>ขายให้หัวหน้าช่าง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2E5D20-FC51-431B-81B3-60CA7BB7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495925"/>
            <a:ext cx="22098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F86"/>
                </a:solidFill>
              </a:defRPr>
            </a:pPr>
            <a:r>
              <a:rPr sz="1275" b="0" i="0">
                <a:solidFill>
                  <a:srgbClr val="5C6F86"/>
                </a:solidFill>
              </a:rPr>
              <a:t>ทีมทำงานง่ายและมีหลักฐานครบ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BABB63-A597-46EF-95EB-713E55C7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10125"/>
            <a:ext cx="2667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5E1638-EE6C-48A1-82EE-4B89EC6B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10125"/>
            <a:ext cx="762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77057B-EDAA-452B-B145-3A997645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038725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71B33"/>
                </a:solidFill>
              </a:defRPr>
            </a:pPr>
            <a:r>
              <a:rPr sz="1575" b="1" i="0">
                <a:solidFill>
                  <a:srgbClr val="071B33"/>
                </a:solidFill>
              </a:rPr>
              <a:t>ขายให้แอดมิน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55C38A-9681-4190-AF11-88F9B7AD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495925"/>
            <a:ext cx="22098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C6F86"/>
                </a:solidFill>
              </a:defRPr>
            </a:pPr>
            <a:r>
              <a:rPr sz="1275" b="0" i="0">
                <a:solidFill>
                  <a:srgbClr val="5C6F86"/>
                </a:solidFill>
              </a:rPr>
              <a:t>ตอบลูกค้าได้โดยไม่ต้องไล่ถาม</a:t>
            </a:r>
          </a:p>
        </p:txBody>
      </p:sp>
    </p:spTree>
    <p:extLst>
      <p:ext uri="{BB962C8B-B14F-4D97-AF65-F5344CB8AC3E}">
        <p14:creationId xmlns:p14="http://schemas.microsoft.com/office/powerpoint/2010/main" val="8489832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111F0E-E2D7-40CE-B66C-6131B818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FFFFFF"/>
                </a:solidFill>
              </a:defRPr>
            </a:pPr>
            <a:r>
              <a:rPr sz="3450" b="1" i="0">
                <a:solidFill>
                  <a:srgbClr val="FFFFFF"/>
                </a:solidFill>
              </a:rPr>
              <a:t>ข้อเสนอสำหรับการเริ่มใช้งาน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5C6A6-EAB0-4E2F-A278-1AB6B977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C7D8EA"/>
                </a:solidFill>
              </a:defRPr>
            </a:pPr>
            <a:r>
              <a:rPr sz="1725" b="0" i="0">
                <a:solidFill>
                  <a:srgbClr val="C7D8EA"/>
                </a:solidFill>
              </a:rPr>
              <a:t>เริ่มจากทีมเล็ก ทดสอบกับงานจริง แล้วค่อยขยายเป็นระบบกลางของงานบริการหลังขาย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76A45B-222C-4853-864F-65AF7B8F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14625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497"/>
          </a:solidFill>
          <a:ln xmlns:a="http://schemas.openxmlformats.org/drawingml/2006/main" w="9525">
            <a:solidFill>
              <a:srgbClr val="12B49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45BE04-017E-41CC-9577-90842D39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2892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29A1D-3870-4C84-9195-5DC36B3C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80987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FFFFFF"/>
                </a:solidFill>
              </a:defRPr>
            </a:pPr>
            <a:r>
              <a:rPr sz="1800" b="0" i="0">
                <a:solidFill>
                  <a:srgbClr val="FFFFFF"/>
                </a:solidFill>
              </a:rPr>
              <a:t>นำเข้าข้อมูลลูกค้าและอุปกรณ์ชุดแรก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180BBC-3D27-4846-9274-FF68BC4B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0425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497"/>
          </a:solidFill>
          <a:ln xmlns:a="http://schemas.openxmlformats.org/drawingml/2006/main" w="9525">
            <a:solidFill>
              <a:srgbClr val="12B49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4E019-B7D2-4D11-A6CA-338979F5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1472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C5AC4-0CEB-4749-87D9-FC0CE2E4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49567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FFFFFF"/>
                </a:solidFill>
              </a:defRPr>
            </a:pPr>
            <a:r>
              <a:rPr sz="1800" b="0" i="0">
                <a:solidFill>
                  <a:srgbClr val="FFFFFF"/>
                </a:solidFill>
              </a:rPr>
              <a:t>ให้ช่างทดลองรับงานและปิดงานจากมือถือ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614D13-211F-4F33-8EEF-B66F4554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86225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497"/>
          </a:solidFill>
          <a:ln xmlns:a="http://schemas.openxmlformats.org/drawingml/2006/main" w="9525">
            <a:solidFill>
              <a:srgbClr val="12B49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D413A3-A883-4DF2-9B0D-447C2ED2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0052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E95DAF-7703-4F1C-9533-F0822F64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18147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FFFFFF"/>
                </a:solidFill>
              </a:defRPr>
            </a:pPr>
            <a:r>
              <a:rPr sz="1800" b="0" i="0">
                <a:solidFill>
                  <a:srgbClr val="FFFFFF"/>
                </a:solidFill>
              </a:rPr>
              <a:t>เชื่อม LINE OA สำหรับผูกลูกค้าและรับแจ้งปัญหา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5E24EB-ADDD-4E74-82BE-F53086E1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72025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497"/>
          </a:solidFill>
          <a:ln xmlns:a="http://schemas.openxmlformats.org/drawingml/2006/main" w="9525">
            <a:solidFill>
              <a:srgbClr val="12B49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67CC6C-DA58-440E-BEFD-21B7B4FC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8632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848C6F-0531-484B-81CE-5740BBA5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6727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FFFFFF"/>
                </a:solidFill>
              </a:defRPr>
            </a:pPr>
            <a:r>
              <a:rPr sz="1800" b="0" i="0">
                <a:solidFill>
                  <a:srgbClr val="FFFFFF"/>
                </a:solidFill>
              </a:rPr>
              <a:t>วัดผลจากงานที่ปิดได้ รูปครบ และเคสไม่หลุด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B595A6-4B79-4350-84B7-D78AE652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381125"/>
            <a:ext cx="2381250" cy="40957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14902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2434DD-4080-4F2B-81ED-FF8B1EDB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14550"/>
            <a:ext cx="171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Post-Sales</a:t>
            </a:r>
          </a:p>
          <a:p xmlns:a="http://schemas.openxmlformats.org/drawingml/2006/main">
            <a:pPr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IoT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83763F-6DC0-4051-A8B9-E6C5E4A2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C7D8EA"/>
                </a:solidFill>
              </a:defRPr>
            </a:pPr>
            <a:r>
              <a:rPr sz="1725" b="0" i="0">
                <a:solidFill>
                  <a:srgbClr val="C7D8EA"/>
                </a:solidFill>
              </a:rPr>
              <a:t>เปลี่ยนหลังการขาย</a:t>
            </a:r>
          </a:p>
          <a:p xmlns:a="http://schemas.openxmlformats.org/drawingml/2006/main">
            <a:pPr>
              <a:defRPr sz="1725" b="0" i="0">
                <a:solidFill>
                  <a:srgbClr val="C7D8EA"/>
                </a:solidFill>
              </a:defRPr>
            </a:pPr>
            <a:r>
              <a:rPr sz="1725" b="0" i="0">
                <a:solidFill>
                  <a:srgbClr val="C7D8EA"/>
                </a:solidFill>
              </a:rPr>
              <a:t>ให้เป็นระบบที่ขายต่อได้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290C34-45A3-446A-86B5-970FCBDC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533900"/>
            <a:ext cx="17145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497"/>
          </a:solidFill>
          <a:ln xmlns:a="http://schemas.openxmlformats.org/drawingml/2006/main" w="9525">
            <a:solidFill>
              <a:srgbClr val="12B49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87631F-14AB-4C99-B55D-C9110F12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482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เริ่มทดลองใช้</a:t>
            </a:r>
          </a:p>
        </p:txBody>
      </p:sp>
    </p:spTree>
    <p:extLst>
      <p:ext uri="{BB962C8B-B14F-4D97-AF65-F5344CB8AC3E}">
        <p14:creationId xmlns:p14="http://schemas.microsoft.com/office/powerpoint/2010/main" val="16727038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2026-07-01T19:37:09.8640000Z</dcterms:created>
  <dcterms:modified xsi:type="dcterms:W3CDTF">2026-07-01T19:37:09.8640000Z</dcterms:modified>
</coreProperties>
</file>