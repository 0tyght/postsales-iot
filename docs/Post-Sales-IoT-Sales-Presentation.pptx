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efe9b4a9954cf7" /><Relationship Type="http://schemas.openxmlformats.org/officeDocument/2006/relationships/extended-properties" Target="/docProps/app.xml" Id="R64db175e136b412f" /><Relationship Type="http://schemas.openxmlformats.org/officeDocument/2006/relationships/officeDocument" Target="/ppt/presentation.xml" Id="Rab1b5a4b5bf54a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86b0989cfd4c7b"/>
  </p:sldMasterIdLst>
  <p:notesMasterIdLst>
    <p:notesMasterId xmlns:r="http://schemas.openxmlformats.org/officeDocument/2006/relationships" r:id="R138539d8eca243d7"/>
  </p:notesMasterIdLst>
  <p:sldIdLst>
    <p:sldId xmlns:r="http://schemas.openxmlformats.org/officeDocument/2006/relationships" id="256" r:id="Rc4a6bbb2ee244313"/>
    <p:sldId xmlns:r="http://schemas.openxmlformats.org/officeDocument/2006/relationships" id="257" r:id="R44e06418b987427a"/>
    <p:sldId xmlns:r="http://schemas.openxmlformats.org/officeDocument/2006/relationships" id="258" r:id="Rf32701730a7a41e9"/>
    <p:sldId xmlns:r="http://schemas.openxmlformats.org/officeDocument/2006/relationships" id="259" r:id="R99dc341cb0004ba0"/>
    <p:sldId xmlns:r="http://schemas.openxmlformats.org/officeDocument/2006/relationships" id="260" r:id="R92524dc56df644b9"/>
    <p:sldId xmlns:r="http://schemas.openxmlformats.org/officeDocument/2006/relationships" id="261" r:id="Rfd580cb624c34883"/>
    <p:sldId xmlns:r="http://schemas.openxmlformats.org/officeDocument/2006/relationships" id="262" r:id="Rf33123b0e8f8483e"/>
    <p:sldId xmlns:r="http://schemas.openxmlformats.org/officeDocument/2006/relationships" id="263" r:id="R2ae420e0c4824c65"/>
    <p:sldId xmlns:r="http://schemas.openxmlformats.org/officeDocument/2006/relationships" id="264" r:id="R09a26eea77544602"/>
    <p:sldId xmlns:r="http://schemas.openxmlformats.org/officeDocument/2006/relationships" id="265" r:id="Ra95473b695f6464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1dd36fba5f456b" /><Relationship Type="http://schemas.openxmlformats.org/officeDocument/2006/relationships/slideMaster" Target="/ppt/slideMasters/slideMaster1.xml" Id="Rae86b0989cfd4c7b" /><Relationship Type="http://schemas.openxmlformats.org/officeDocument/2006/relationships/notesMaster" Target="/ppt/notesMasters/notesMaster1.xml" Id="R138539d8eca243d7" /><Relationship Type="http://schemas.openxmlformats.org/officeDocument/2006/relationships/presProps" Target="/ppt/presProps.xml" Id="R09c35162b99f4347" /><Relationship Type="http://schemas.openxmlformats.org/officeDocument/2006/relationships/tableStyles" Target="/ppt/tableStyles.xml" Id="R536b730303a74a01" /><Relationship Type="http://schemas.openxmlformats.org/officeDocument/2006/relationships/slide" Target="/ppt/slides/slide1.xml" Id="Rc4a6bbb2ee244313" /><Relationship Type="http://schemas.openxmlformats.org/officeDocument/2006/relationships/slide" Target="/ppt/slides/slide2.xml" Id="R44e06418b987427a" /><Relationship Type="http://schemas.openxmlformats.org/officeDocument/2006/relationships/slide" Target="/ppt/slides/slide3.xml" Id="Rf32701730a7a41e9" /><Relationship Type="http://schemas.openxmlformats.org/officeDocument/2006/relationships/slide" Target="/ppt/slides/slide4.xml" Id="R99dc341cb0004ba0" /><Relationship Type="http://schemas.openxmlformats.org/officeDocument/2006/relationships/slide" Target="/ppt/slides/slide5.xml" Id="R92524dc56df644b9" /><Relationship Type="http://schemas.openxmlformats.org/officeDocument/2006/relationships/slide" Target="/ppt/slides/slide6.xml" Id="Rfd580cb624c34883" /><Relationship Type="http://schemas.openxmlformats.org/officeDocument/2006/relationships/slide" Target="/ppt/slides/slide7.xml" Id="Rf33123b0e8f8483e" /><Relationship Type="http://schemas.openxmlformats.org/officeDocument/2006/relationships/slide" Target="/ppt/slides/slide8.xml" Id="R2ae420e0c4824c65" /><Relationship Type="http://schemas.openxmlformats.org/officeDocument/2006/relationships/slide" Target="/ppt/slides/slide9.xml" Id="R09a26eea77544602" /><Relationship Type="http://schemas.openxmlformats.org/officeDocument/2006/relationships/slide" Target="/ppt/slides/slide10.xml" Id="Ra95473b695f646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01b030139d4c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0af62c4ca94daf" /><Relationship Type="http://schemas.openxmlformats.org/officeDocument/2006/relationships/notesMaster" Target="/ppt/notesMasters/notesMaster1.xml" Id="Rdc2df661e45d4d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842600577d4099" /><Relationship Type="http://schemas.openxmlformats.org/officeDocument/2006/relationships/notesMaster" Target="/ppt/notesMasters/notesMaster1.xml" Id="R65746759f79a45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5f992082aa4998" /><Relationship Type="http://schemas.openxmlformats.org/officeDocument/2006/relationships/notesMaster" Target="/ppt/notesMasters/notesMaster1.xml" Id="Ra5605f54534841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d8bc47c4ad495d" /><Relationship Type="http://schemas.openxmlformats.org/officeDocument/2006/relationships/notesMaster" Target="/ppt/notesMasters/notesMaster1.xml" Id="R04a58b2bb1d24a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9fdd4500d24e6f" /><Relationship Type="http://schemas.openxmlformats.org/officeDocument/2006/relationships/notesMaster" Target="/ppt/notesMasters/notesMaster1.xml" Id="R5456ee3cdd264f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fc0a22a8ba4337" /><Relationship Type="http://schemas.openxmlformats.org/officeDocument/2006/relationships/notesMaster" Target="/ppt/notesMasters/notesMaster1.xml" Id="Ra7eb1d7db32e4c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4cc99459ed4bf6" /><Relationship Type="http://schemas.openxmlformats.org/officeDocument/2006/relationships/notesMaster" Target="/ppt/notesMasters/notesMaster1.xml" Id="Rfe2f2ea41c244c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bcf3d8c955480e" /><Relationship Type="http://schemas.openxmlformats.org/officeDocument/2006/relationships/notesMaster" Target="/ppt/notesMasters/notesMaster1.xml" Id="Re44e9e3a74e942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8de9b1abc94e8d" /><Relationship Type="http://schemas.openxmlformats.org/officeDocument/2006/relationships/notesMaster" Target="/ppt/notesMasters/notesMaster1.xml" Id="R13a3542c517745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d329cde07f4967" /><Relationship Type="http://schemas.openxmlformats.org/officeDocument/2006/relationships/notesMaster" Target="/ppt/notesMasters/notesMaster1.xml" Id="R2d4d5b27bcf24f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6f6697173446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e506670aba4ce2" /><Relationship Type="http://schemas.openxmlformats.org/officeDocument/2006/relationships/slideLayout" Target="/ppt/slideLayouts/slideLayout1.xml" Id="R93809e9eb1c04c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809e9eb1c04c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e1491880340e7" /><Relationship Type="http://schemas.openxmlformats.org/officeDocument/2006/relationships/notesSlide" Target="/ppt/notesSlides/notesSlide1.xml" Id="R02df584e6fc345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0ad94f83247ca" /><Relationship Type="http://schemas.openxmlformats.org/officeDocument/2006/relationships/notesSlide" Target="/ppt/notesSlides/notesSlide2.xml" Id="R32c54cd0993647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eeb0521b7433a" /><Relationship Type="http://schemas.openxmlformats.org/officeDocument/2006/relationships/notesSlide" Target="/ppt/notesSlides/notesSlide3.xml" Id="R3bcb420de58a47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671e90c0d415f" /><Relationship Type="http://schemas.openxmlformats.org/officeDocument/2006/relationships/notesSlide" Target="/ppt/notesSlides/notesSlide4.xml" Id="R380a60c22f094a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382a661494bb5" /><Relationship Type="http://schemas.openxmlformats.org/officeDocument/2006/relationships/notesSlide" Target="/ppt/notesSlides/notesSlide5.xml" Id="Rd0488634466049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e7ed6722b42aa" /><Relationship Type="http://schemas.openxmlformats.org/officeDocument/2006/relationships/notesSlide" Target="/ppt/notesSlides/notesSlide6.xml" Id="R8e4a1e4bb1a848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76db5741c4113" /><Relationship Type="http://schemas.openxmlformats.org/officeDocument/2006/relationships/notesSlide" Target="/ppt/notesSlides/notesSlide7.xml" Id="R884a53be39c445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9c501c9484a09" /><Relationship Type="http://schemas.openxmlformats.org/officeDocument/2006/relationships/notesSlide" Target="/ppt/notesSlides/notesSlide8.xml" Id="R7b6c79eb6d7d40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6b231087f45b7" /><Relationship Type="http://schemas.openxmlformats.org/officeDocument/2006/relationships/notesSlide" Target="/ppt/notesSlides/notesSlide9.xml" Id="Rc4ac9dbd7c6e4a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a7da5b4384a36" /><Relationship Type="http://schemas.openxmlformats.org/officeDocument/2006/relationships/notesSlide" Target="/ppt/notesSlides/notesSlide10.xml" Id="Ra87aa153ac254b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D79FA4-6DAA-4B48-B42F-6133A00F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143500" cy="6858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71F34-0DE4-4950-9190-34CC0D93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78D8"/>
          </a:solidFill>
          <a:ln xmlns:a="http://schemas.openxmlformats.org/drawingml/2006/main" w="9525">
            <a:solidFill>
              <a:srgbClr val="237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F28A2-0665-4411-8E58-BFAE484B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8382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TYT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48326-12B5-4DE6-8B94-C5055FA3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3429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A88A">
              <a:alpha val="9412"/>
            </a:srgbClr>
          </a:solidFill>
          <a:ln xmlns:a="http://schemas.openxmlformats.org/drawingml/2006/main" w="9525">
            <a:solidFill>
              <a:srgbClr val="19A88A">
                <a:alpha val="33333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A1A12-6F3C-4918-AFE1-AFF23C40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35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9A88A"/>
                </a:solidFill>
              </a:defRPr>
            </a:pPr>
            <a:r>
              <a:rPr sz="975" b="1" i="0">
                <a:solidFill>
                  <a:srgbClr val="19A88A"/>
                </a:solidFill>
              </a:rPr>
              <a:t>ระบบดูแลหลังการขายสำหรับงานติดตั้งและบริการ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736DB-C391-459C-8EC1-81741A75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B1F3A"/>
                </a:solidFill>
              </a:defRPr>
            </a:pPr>
            <a:r>
              <a:rPr sz="4050" b="1" i="0">
                <a:solidFill>
                  <a:srgbClr val="0B1F3A"/>
                </a:solidFill>
              </a:rPr>
              <a:t>Post-Sales IoT</a:t>
            </a:r>
          </a:p>
          <a:p xmlns:a="http://schemas.openxmlformats.org/drawingml/2006/main">
            <a:pPr>
              <a:defRPr sz="4050" b="1" i="0">
                <a:solidFill>
                  <a:srgbClr val="0B1F3A"/>
                </a:solidFill>
              </a:defRPr>
            </a:pPr>
            <a:r>
              <a:rPr sz="4050" b="1" i="0">
                <a:solidFill>
                  <a:srgbClr val="0B1F3A"/>
                </a:solidFill>
              </a:rPr>
              <a:t>Support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2A4F1-200C-4369-9DFF-3D3C546B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607086"/>
                </a:solidFill>
              </a:defRPr>
            </a:pPr>
            <a:r>
              <a:rPr sz="1800" b="0" i="0">
                <a:solidFill>
                  <a:srgbClr val="607086"/>
                </a:solidFill>
              </a:rPr>
              <a:t>ดูแลลูกค้า งานติดตั้ง งานซ่อม อุปกรณ์จริง รูปหลักฐาน และ LINE OA ได้ในระบบเดียว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2B6AC-176E-4F50-BA28-B4B57A23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43000"/>
            <a:ext cx="3619500" cy="4000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A5937-C6FC-4DB6-B40A-F2DF6A8A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716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B1F3A"/>
                </a:solidFill>
              </a:defRPr>
            </a:pPr>
            <a:r>
              <a:rPr sz="2100" b="1" i="0">
                <a:solidFill>
                  <a:srgbClr val="0B1F3A"/>
                </a:solidFill>
              </a:rPr>
              <a:t>งานที่ไม่หลุด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C61CD-9923-46CD-B779-1BAE2ED0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2667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32238"/>
                </a:solidFill>
              </a:defRPr>
            </a:pPr>
            <a:r>
              <a:rPr sz="1950" b="0" i="0">
                <a:solidFill>
                  <a:srgbClr val="132238"/>
                </a:solidFill>
              </a:rPr>
              <a:t>สถานะชัดเจน</a:t>
            </a:r>
          </a:p>
          <a:p xmlns:a="http://schemas.openxmlformats.org/drawingml/2006/main">
            <a:pPr>
              <a:defRPr sz="1950" b="0" i="0">
                <a:solidFill>
                  <a:srgbClr val="132238"/>
                </a:solidFill>
              </a:defRPr>
            </a:pPr>
            <a:r>
              <a:rPr sz="1950" b="0" i="0">
                <a:solidFill>
                  <a:srgbClr val="132238"/>
                </a:solidFill>
              </a:rPr>
              <a:t>รูปหน้างานครบ</a:t>
            </a:r>
          </a:p>
          <a:p xmlns:a="http://schemas.openxmlformats.org/drawingml/2006/main">
            <a:pPr>
              <a:defRPr sz="1950" b="0" i="0">
                <a:solidFill>
                  <a:srgbClr val="132238"/>
                </a:solidFill>
              </a:defRPr>
            </a:pPr>
            <a:r>
              <a:rPr sz="1950" b="0" i="0">
                <a:solidFill>
                  <a:srgbClr val="132238"/>
                </a:solidFill>
              </a:rPr>
              <a:t>ติดต่อผ่าน LINE</a:t>
            </a:r>
          </a:p>
          <a:p xmlns:a="http://schemas.openxmlformats.org/drawingml/2006/main">
            <a:pPr>
              <a:defRPr sz="1950" b="0" i="0">
                <a:solidFill>
                  <a:srgbClr val="132238"/>
                </a:solidFill>
              </a:defRPr>
            </a:pPr>
            <a:r>
              <a:rPr sz="1950" b="0" i="0">
                <a:solidFill>
                  <a:srgbClr val="132238"/>
                </a:solidFill>
              </a:rPr>
              <a:t>ดูแลต่อเนื่องหลังขาย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45A1CE-B480-4550-B665-B8ED622C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57700"/>
            <a:ext cx="3048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A88A"/>
          </a:solidFill>
          <a:ln xmlns:a="http://schemas.openxmlformats.org/drawingml/2006/main" w="9525">
            <a:solidFill>
              <a:srgbClr val="19A8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0717B-8AC4-471D-8CE1-1CEBE95D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52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พร้อมใช้งานแบบ Web App / PWA</a:t>
            </a:r>
          </a:p>
        </p:txBody>
      </p:sp>
    </p:spTree>
    <p:extLst>
      <p:ext uri="{BB962C8B-B14F-4D97-AF65-F5344CB8AC3E}">
        <p14:creationId xmlns:p14="http://schemas.microsoft.com/office/powerpoint/2010/main" val="17116596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4AB552-D0D8-45E9-8FFE-1072E83D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0B1F3A"/>
                </a:solidFill>
              </a:defRPr>
            </a:pPr>
            <a:r>
              <a:rPr sz="2700" b="1" i="0">
                <a:solidFill>
                  <a:srgbClr val="0B1F3A"/>
                </a:solidFill>
              </a:rPr>
              <a:t>งานหลังการขายมักพังตรงช่องว่างเล็ก 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4FD6B-D8BC-4FD1-A6A7-4442B2ED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07086"/>
                </a:solidFill>
              </a:defRPr>
            </a:pPr>
            <a:r>
              <a:rPr sz="1350" b="0" i="0">
                <a:solidFill>
                  <a:srgbClr val="607086"/>
                </a:solidFill>
              </a:rPr>
              <a:t>เมื่อข้อมูลกระจายอยู่หลายที่ ทีมจะเห็นภาพไม่พร้อมกัน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48297-474E-461C-B9E2-0E40B00D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07086"/>
                </a:solidFill>
              </a:defRPr>
            </a:pPr>
            <a:r>
              <a:rPr sz="975" b="0" i="0">
                <a:solidFill>
                  <a:srgbClr val="607086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6EE5E-1E2E-47ED-B6B1-AF40A79A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D2FEF-C5E3-4E12-9A0B-92436A4E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C2463-1C96-4F56-9203-05B788D6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</a:defRPr>
            </a:pPr>
            <a:r>
              <a:rPr sz="1650" b="1" i="0">
                <a:solidFill>
                  <a:srgbClr val="0B1F3A"/>
                </a:solidFill>
              </a:rPr>
              <a:t>งานหลุด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483306-DAE1-42DD-88DC-AC083317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07086"/>
                </a:solidFill>
              </a:defRPr>
            </a:pPr>
            <a:r>
              <a:rPr sz="1275" b="0" i="0">
                <a:solidFill>
                  <a:srgbClr val="607086"/>
                </a:solidFill>
              </a:rPr>
              <a:t>รับแจ้งแล้วไม่มีใครเห็นสถานะล่าสุด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56748-FD63-434F-A2F2-7FCF8474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B1131-3C6C-45DA-9565-1B0FACAF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7620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8FFCC-E19A-4BE0-BA09-9F667AAA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2405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</a:defRPr>
            </a:pPr>
            <a:r>
              <a:rPr sz="1650" b="1" i="0">
                <a:solidFill>
                  <a:srgbClr val="0B1F3A"/>
                </a:solidFill>
              </a:rPr>
              <a:t>รูปกระจัดกระจาย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0312D-0225-4D22-BF9E-DD995637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2410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07086"/>
                </a:solidFill>
              </a:defRPr>
            </a:pPr>
            <a:r>
              <a:rPr sz="1275" b="0" i="0">
                <a:solidFill>
                  <a:srgbClr val="607086"/>
                </a:solidFill>
              </a:rPr>
              <a:t>หลักฐานอยู่ในมือถือช่างหรือแชตส่วนตัว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1B928-A34B-45E6-BFBB-A67984A6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145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05DECC-F1CF-4E0E-B746-6F2A4683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14500"/>
            <a:ext cx="7620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8D8"/>
          </a:solidFill>
          <a:ln xmlns:a="http://schemas.openxmlformats.org/drawingml/2006/main" w="9525">
            <a:solidFill>
              <a:srgbClr val="2378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E9C69-D63F-4C77-9AD1-8B763834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2405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</a:defRPr>
            </a:pPr>
            <a:r>
              <a:rPr sz="1650" b="1" i="0">
                <a:solidFill>
                  <a:srgbClr val="0B1F3A"/>
                </a:solidFill>
              </a:rPr>
              <a:t>ไม่รู้ว่าช่างทำถึงไหน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5C49BF-BCED-4119-BED6-F4291729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07086"/>
                </a:solidFill>
              </a:defRPr>
            </a:pPr>
            <a:r>
              <a:rPr sz="1275" b="0" i="0">
                <a:solidFill>
                  <a:srgbClr val="607086"/>
                </a:solidFill>
              </a:rPr>
              <a:t>แอดมินต้องโทรถามซ้ำเพื่ออัปเดตลูกค้า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9F1489-F6E0-423D-9289-34805463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4953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1E4BA8-8EDE-46C0-9F8F-BBD4913F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7620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A88A"/>
          </a:solidFill>
          <a:ln xmlns:a="http://schemas.openxmlformats.org/drawingml/2006/main" w="9525">
            <a:solidFill>
              <a:srgbClr val="19A8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A52B7D-8836-4409-BD47-0AF9FE70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86175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</a:defRPr>
            </a:pPr>
            <a:r>
              <a:rPr sz="1650" b="1" i="0">
                <a:solidFill>
                  <a:srgbClr val="0B1F3A"/>
                </a:solidFill>
              </a:rPr>
              <a:t>ประกันกับรอบดูแลไม่ชัด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A01E89-BA2E-4F68-9BDE-54AA5C63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86225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07086"/>
                </a:solidFill>
              </a:defRPr>
            </a:pPr>
            <a:r>
              <a:rPr sz="1275" b="0" i="0">
                <a:solidFill>
                  <a:srgbClr val="607086"/>
                </a:solidFill>
              </a:rPr>
              <a:t>หมดระยะหรือถึงรอบ service แล้วไม่มีใครเตือน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8F86BA-D629-4EEE-8EC6-9DF0C81D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76625"/>
            <a:ext cx="4953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8D48C7-44AE-43A7-ACD5-5F9A090F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76625"/>
            <a:ext cx="7620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C755"/>
          </a:solidFill>
          <a:ln xmlns:a="http://schemas.openxmlformats.org/drawingml/2006/main" w="9525">
            <a:solidFill>
              <a:srgbClr val="06C7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470386-BE51-416A-A9C4-42AD563B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86175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</a:defRPr>
            </a:pPr>
            <a:r>
              <a:rPr sz="1650" b="1" i="0">
                <a:solidFill>
                  <a:srgbClr val="0B1F3A"/>
                </a:solidFill>
              </a:rPr>
              <a:t>ลูกค้าติดต่อยาก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6D7D1F-8121-467D-9E92-C8909E26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86225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07086"/>
                </a:solidFill>
              </a:defRPr>
            </a:pPr>
            <a:r>
              <a:rPr sz="1275" b="0" i="0">
                <a:solidFill>
                  <a:srgbClr val="607086"/>
                </a:solidFill>
              </a:rPr>
              <a:t>ไม่รู้ว่า LINE นี้เป็นของลูกค้ารายไหน</a:t>
            </a:r>
          </a:p>
        </p:txBody>
      </p:sp>
    </p:spTree>
    <p:extLst>
      <p:ext uri="{BB962C8B-B14F-4D97-AF65-F5344CB8AC3E}">
        <p14:creationId xmlns:p14="http://schemas.microsoft.com/office/powerpoint/2010/main" val="19824193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6EA789-999F-406F-9652-0562529C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0B1F3A"/>
                </a:solidFill>
              </a:defRPr>
            </a:pPr>
            <a:r>
              <a:rPr sz="2700" b="1" i="0">
                <a:solidFill>
                  <a:srgbClr val="0B1F3A"/>
                </a:solidFill>
              </a:rPr>
              <a:t>ระบบนี้ทำหน้าที่เป็นศูนย์กลางงานบริการ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4EEAB-BA2A-4120-AA52-A5EAFE5E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07086"/>
                </a:solidFill>
              </a:defRPr>
            </a:pPr>
            <a:r>
              <a:rPr sz="1350" b="0" i="0">
                <a:solidFill>
                  <a:srgbClr val="607086"/>
                </a:solidFill>
              </a:rPr>
              <a:t>ทุกฝ่ายเห็นข้อมูลเดียวกัน ตั้งแต่รับเรื่องจนปิดงาน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55F67-5543-4F55-ACE6-BEB3CF11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07086"/>
                </a:solidFill>
              </a:defRPr>
            </a:pPr>
            <a:r>
              <a:rPr sz="975" b="0" i="0">
                <a:solidFill>
                  <a:srgbClr val="607086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6CD6E-2FBC-4253-A21B-2AF1DB44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62125"/>
            <a:ext cx="3429000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F95E7-013F-4618-8453-91699B64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383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FFFFF"/>
                </a:solidFill>
              </a:defRPr>
            </a:pPr>
            <a:r>
              <a:rPr sz="2400" b="1" i="0">
                <a:solidFill>
                  <a:srgbClr val="FFFFFF"/>
                </a:solidFill>
              </a:rPr>
              <a:t>Post-Sales IoT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ED514-649D-4D16-80F3-947EBA9C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05125"/>
            <a:ext cx="2667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D8E8F7"/>
                </a:solidFill>
              </a:defRPr>
            </a:pPr>
            <a:r>
              <a:rPr sz="1500" b="0" i="0">
                <a:solidFill>
                  <a:srgbClr val="D8E8F7"/>
                </a:solidFill>
              </a:rPr>
              <a:t>ลูกค้า • จุดติดตั้ง • อุปกรณ์ • เคส • งานช่าง • รูปหลักฐาน • 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FED58-9BB6-44CE-87CA-47CF0CDC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23812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7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DFBEF-E989-4B3B-8F6B-42B1EE6F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002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0B1F3A"/>
                </a:solidFill>
              </a:defRPr>
            </a:pPr>
            <a:r>
              <a:rPr sz="1950" b="1" i="0">
                <a:solidFill>
                  <a:srgbClr val="0B1F3A"/>
                </a:solidFill>
              </a:rPr>
              <a:t>แอดมิน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150D7-57D9-4D43-A186-D96E4182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23812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9A8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6FCBA-EBBE-42EB-A765-650ECF87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862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0B1F3A"/>
                </a:solidFill>
              </a:defRPr>
            </a:pPr>
            <a:r>
              <a:rPr sz="1950" b="1" i="0">
                <a:solidFill>
                  <a:srgbClr val="0B1F3A"/>
                </a:solidFill>
              </a:rPr>
              <a:t>ช่าง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B885C-03E3-44FB-B34A-EF9D25A8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14500"/>
            <a:ext cx="23812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8A487-6124-4F6A-A81F-55E6F47A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002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0B1F3A"/>
                </a:solidFill>
              </a:defRPr>
            </a:pPr>
            <a:r>
              <a:rPr sz="1950" b="1" i="0">
                <a:solidFill>
                  <a:srgbClr val="0B1F3A"/>
                </a:solidFill>
              </a:rPr>
              <a:t>ลูกค้า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00366-C902-4A87-8306-F0D19FDD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23812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6C7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65930-59EE-4C05-B08E-3D7C08DA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862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0B1F3A"/>
                </a:solidFill>
              </a:defRPr>
            </a:pPr>
            <a:r>
              <a:rPr sz="1950" b="1" i="0">
                <a:solidFill>
                  <a:srgbClr val="0B1F3A"/>
                </a:solidFill>
              </a:rPr>
              <a:t>LINE OA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8779E-A02A-446F-B683-0C7984AA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193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378D8"/>
                </a:solidFill>
              </a:defRPr>
            </a:pPr>
            <a:r>
              <a:rPr sz="2100" b="1" i="0">
                <a:solidFill>
                  <a:srgbClr val="2378D8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BC659B-F9C0-4006-A0BC-AA107A57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053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378D8"/>
                </a:solidFill>
              </a:defRPr>
            </a:pPr>
            <a:r>
              <a:rPr sz="2100" b="1" i="0">
                <a:solidFill>
                  <a:srgbClr val="2378D8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378E94-2B00-4FC8-9464-DA2C6CCB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193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378D8"/>
                </a:solidFill>
              </a:defRPr>
            </a:pPr>
            <a:r>
              <a:rPr sz="2100" b="1" i="0">
                <a:solidFill>
                  <a:srgbClr val="2378D8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80EDD2-E8D7-48D0-B6D6-806432FC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378D8"/>
                </a:solidFill>
              </a:defRPr>
            </a:pPr>
            <a:r>
              <a:rPr sz="2100" b="1" i="0">
                <a:solidFill>
                  <a:srgbClr val="2378D8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4857455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8C1AC7-64A8-48DD-867D-9EB99AC6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0B1F3A"/>
                </a:solidFill>
              </a:defRPr>
            </a:pPr>
            <a:r>
              <a:rPr sz="2700" b="1" i="0">
                <a:solidFill>
                  <a:srgbClr val="0B1F3A"/>
                </a:solidFill>
              </a:rPr>
              <a:t>แต่ละบทบาททำงานของตัวเองได้ชัดเจน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A7BC6-29C9-4E13-AA81-021FA2CA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07086"/>
                </a:solidFill>
              </a:defRPr>
            </a:pPr>
            <a:r>
              <a:rPr sz="1350" b="0" i="0">
                <a:solidFill>
                  <a:srgbClr val="607086"/>
                </a:solidFill>
              </a:rPr>
              <a:t>ระบบแยกสิทธิ์จากบัญชี และลดงานถามซ้ำระหว่างทีม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402BA-6A3B-4783-B769-A4184B6A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07086"/>
                </a:solidFill>
              </a:defRPr>
            </a:pPr>
            <a:r>
              <a:rPr sz="975" b="0" i="0">
                <a:solidFill>
                  <a:srgbClr val="607086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817C9-07C8-40B6-939C-078C802A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571750" cy="3238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41DF8-98AC-4B7C-9235-5DB78663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6200" cy="3238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8D8"/>
          </a:solidFill>
          <a:ln xmlns:a="http://schemas.openxmlformats.org/drawingml/2006/main" w="9525">
            <a:solidFill>
              <a:srgbClr val="237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48F83-B68B-420F-A51B-5BF0823F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</a:defRPr>
            </a:pPr>
            <a:r>
              <a:rPr sz="1650" b="1" i="0">
                <a:solidFill>
                  <a:srgbClr val="0B1F3A"/>
                </a:solidFill>
              </a:rPr>
              <a:t>แอดมิน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DE94F-DA4B-46F9-85A6-2F22F4BA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21145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07086"/>
                </a:solidFill>
              </a:defRPr>
            </a:pPr>
            <a:r>
              <a:rPr sz="1425" b="0" i="0">
                <a:solidFill>
                  <a:srgbClr val="607086"/>
                </a:solidFill>
              </a:rPr>
              <a:t>ดู Dashboard</a:t>
            </a:r>
          </a:p>
          <a:p xmlns:a="http://schemas.openxmlformats.org/drawingml/2006/main">
            <a:pPr>
              <a:defRPr sz="1425" b="0" i="0">
                <a:solidFill>
                  <a:srgbClr val="607086"/>
                </a:solidFill>
              </a:defRPr>
            </a:pPr>
            <a:r>
              <a:rPr sz="1425" b="0" i="0">
                <a:solidFill>
                  <a:srgbClr val="607086"/>
                </a:solidFill>
              </a:rPr>
              <a:t>จัดการลูกค้าและจุดติดตั้ง</a:t>
            </a:r>
          </a:p>
          <a:p xmlns:a="http://schemas.openxmlformats.org/drawingml/2006/main">
            <a:pPr>
              <a:defRPr sz="1425" b="0" i="0">
                <a:solidFill>
                  <a:srgbClr val="607086"/>
                </a:solidFill>
              </a:defRPr>
            </a:pPr>
            <a:r>
              <a:rPr sz="1425" b="0" i="0">
                <a:solidFill>
                  <a:srgbClr val="607086"/>
                </a:solidFill>
              </a:rPr>
              <a:t>ติดตามเคสแบบเรียลไทม์</a:t>
            </a:r>
          </a:p>
          <a:p xmlns:a="http://schemas.openxmlformats.org/drawingml/2006/main">
            <a:pPr>
              <a:defRPr sz="1425" b="0" i="0">
                <a:solidFill>
                  <a:srgbClr val="607086"/>
                </a:solidFill>
              </a:defRPr>
            </a:pPr>
            <a:r>
              <a:rPr sz="1425" b="0" i="0">
                <a:solidFill>
                  <a:srgbClr val="607086"/>
                </a:solidFill>
              </a:rPr>
              <a:t>ตั้งค่าข้อความ 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0CB24-80E5-4C36-BD9B-5D5C172D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19250"/>
            <a:ext cx="2571750" cy="3238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EA146-E9F8-4426-94EF-33FB4659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19250"/>
            <a:ext cx="76200" cy="3238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A88A"/>
          </a:solidFill>
          <a:ln xmlns:a="http://schemas.openxmlformats.org/drawingml/2006/main" w="9525">
            <a:solidFill>
              <a:srgbClr val="19A8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9FACF-6B15-4862-ADC6-FD3EF78C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2880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</a:defRPr>
            </a:pPr>
            <a:r>
              <a:rPr sz="1650" b="1" i="0">
                <a:solidFill>
                  <a:srgbClr val="0B1F3A"/>
                </a:solidFill>
              </a:rPr>
              <a:t>ช่าง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CA313-1CB8-4DC7-9B43-393D9843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28850"/>
            <a:ext cx="21145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07086"/>
                </a:solidFill>
              </a:defRPr>
            </a:pPr>
            <a:r>
              <a:rPr sz="1425" b="0" i="0">
                <a:solidFill>
                  <a:srgbClr val="607086"/>
                </a:solidFill>
              </a:rPr>
              <a:t>รับงานจากมือถือ</a:t>
            </a:r>
          </a:p>
          <a:p xmlns:a="http://schemas.openxmlformats.org/drawingml/2006/main">
            <a:pPr>
              <a:defRPr sz="1425" b="0" i="0">
                <a:solidFill>
                  <a:srgbClr val="607086"/>
                </a:solidFill>
              </a:defRPr>
            </a:pPr>
            <a:r>
              <a:rPr sz="1425" b="0" i="0">
                <a:solidFill>
                  <a:srgbClr val="607086"/>
                </a:solidFill>
              </a:rPr>
              <a:t>เพิ่มอุปกรณ์จริงและรูป</a:t>
            </a:r>
          </a:p>
          <a:p xmlns:a="http://schemas.openxmlformats.org/drawingml/2006/main">
            <a:pPr>
              <a:defRPr sz="1425" b="0" i="0">
                <a:solidFill>
                  <a:srgbClr val="607086"/>
                </a:solidFill>
              </a:defRPr>
            </a:pPr>
            <a:r>
              <a:rPr sz="1425" b="0" i="0">
                <a:solidFill>
                  <a:srgbClr val="607086"/>
                </a:solidFill>
              </a:rPr>
              <a:t>บันทึกผลซ่อม/ติดตั้ง</a:t>
            </a:r>
          </a:p>
          <a:p xmlns:a="http://schemas.openxmlformats.org/drawingml/2006/main">
            <a:pPr>
              <a:defRPr sz="1425" b="0" i="0">
                <a:solidFill>
                  <a:srgbClr val="607086"/>
                </a:solidFill>
              </a:defRPr>
            </a:pPr>
            <a:r>
              <a:rPr sz="1425" b="0" i="0">
                <a:solidFill>
                  <a:srgbClr val="607086"/>
                </a:solidFill>
              </a:rPr>
              <a:t>ปิดงานจากหน้างาน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AB53D-5FB2-41D7-A1FC-D52AA0CE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571750" cy="3238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E3D49-2D32-4FBD-ADE8-6CBFCB63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76200" cy="3238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BA98E7-7679-45BF-BC71-A9DCD8B4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2880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</a:defRPr>
            </a:pPr>
            <a:r>
              <a:rPr sz="1650" b="1" i="0">
                <a:solidFill>
                  <a:srgbClr val="0B1F3A"/>
                </a:solidFill>
              </a:rPr>
              <a:t>ลูกค้า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FE98B9-CC0A-4156-A188-AD9C7EC2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28850"/>
            <a:ext cx="21145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07086"/>
                </a:solidFill>
              </a:defRPr>
            </a:pPr>
            <a:r>
              <a:rPr sz="1425" b="0" i="0">
                <a:solidFill>
                  <a:srgbClr val="607086"/>
                </a:solidFill>
              </a:rPr>
              <a:t>ผูก LINE ด้วยรหัสสั้น</a:t>
            </a:r>
          </a:p>
          <a:p xmlns:a="http://schemas.openxmlformats.org/drawingml/2006/main">
            <a:pPr>
              <a:defRPr sz="1425" b="0" i="0">
                <a:solidFill>
                  <a:srgbClr val="607086"/>
                </a:solidFill>
              </a:defRPr>
            </a:pPr>
            <a:r>
              <a:rPr sz="1425" b="0" i="0">
                <a:solidFill>
                  <a:srgbClr val="607086"/>
                </a:solidFill>
              </a:rPr>
              <a:t>แจ้งปัญหาและนัดหมาย</a:t>
            </a:r>
          </a:p>
          <a:p xmlns:a="http://schemas.openxmlformats.org/drawingml/2006/main">
            <a:pPr>
              <a:defRPr sz="1425" b="0" i="0">
                <a:solidFill>
                  <a:srgbClr val="607086"/>
                </a:solidFill>
              </a:defRPr>
            </a:pPr>
            <a:r>
              <a:rPr sz="1425" b="0" i="0">
                <a:solidFill>
                  <a:srgbClr val="607086"/>
                </a:solidFill>
              </a:rPr>
              <a:t>รับข้อความดูแลตามรอบ</a:t>
            </a:r>
          </a:p>
          <a:p xmlns:a="http://schemas.openxmlformats.org/drawingml/2006/main">
            <a:pPr>
              <a:defRPr sz="1425" b="0" i="0">
                <a:solidFill>
                  <a:srgbClr val="607086"/>
                </a:solidFill>
              </a:defRPr>
            </a:pPr>
            <a:r>
              <a:rPr sz="1425" b="0" i="0">
                <a:solidFill>
                  <a:srgbClr val="607086"/>
                </a:solidFill>
              </a:rPr>
              <a:t>ติดต่อทีมได้ง่ายขึ้น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11D126-E50B-4768-AF1B-0694FE69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19250"/>
            <a:ext cx="2286000" cy="3238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5B1902-201D-4E0C-8C2D-C106417F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19250"/>
            <a:ext cx="76200" cy="3238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C755"/>
          </a:solidFill>
          <a:ln xmlns:a="http://schemas.openxmlformats.org/drawingml/2006/main" w="9525">
            <a:solidFill>
              <a:srgbClr val="06C7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DA0BBA-F884-4EDF-84C7-EB3B4C64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288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</a:defRPr>
            </a:pPr>
            <a:r>
              <a:rPr sz="1650" b="1" i="0">
                <a:solidFill>
                  <a:srgbClr val="0B1F3A"/>
                </a:solidFill>
              </a:rPr>
              <a:t>LINE OA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1BA082-D152-4DFA-A69C-020AC9D7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28850"/>
            <a:ext cx="18288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07086"/>
                </a:solidFill>
              </a:defRPr>
            </a:pPr>
            <a:r>
              <a:rPr sz="1350" b="0" i="0">
                <a:solidFill>
                  <a:srgbClr val="607086"/>
                </a:solidFill>
              </a:rPr>
              <a:t>รับแจ้งปัญหา</a:t>
            </a:r>
          </a:p>
          <a:p xmlns:a="http://schemas.openxmlformats.org/drawingml/2006/main">
            <a:pPr>
              <a:defRPr sz="1350" b="0" i="0">
                <a:solidFill>
                  <a:srgbClr val="607086"/>
                </a:solidFill>
              </a:defRPr>
            </a:pPr>
            <a:r>
              <a:rPr sz="1350" b="0" i="0">
                <a:solidFill>
                  <a:srgbClr val="607086"/>
                </a:solidFill>
              </a:rPr>
              <a:t>ส่งเตือนรอบ service</a:t>
            </a:r>
          </a:p>
          <a:p xmlns:a="http://schemas.openxmlformats.org/drawingml/2006/main">
            <a:pPr>
              <a:defRPr sz="1350" b="0" i="0">
                <a:solidFill>
                  <a:srgbClr val="607086"/>
                </a:solidFill>
              </a:defRPr>
            </a:pPr>
            <a:r>
              <a:rPr sz="1350" b="0" i="0">
                <a:solidFill>
                  <a:srgbClr val="607086"/>
                </a:solidFill>
              </a:rPr>
              <a:t>ตอบกลับอัตโนมัติ</a:t>
            </a:r>
          </a:p>
          <a:p xmlns:a="http://schemas.openxmlformats.org/drawingml/2006/main">
            <a:pPr>
              <a:defRPr sz="1350" b="0" i="0">
                <a:solidFill>
                  <a:srgbClr val="607086"/>
                </a:solidFill>
              </a:defRPr>
            </a:pPr>
            <a:r>
              <a:rPr sz="1350" b="0" i="0">
                <a:solidFill>
                  <a:srgbClr val="607086"/>
                </a:solidFill>
              </a:rPr>
              <a:t>แจ้งทีมช่างเมื่อมีเคสใหม่</a:t>
            </a:r>
          </a:p>
        </p:txBody>
      </p:sp>
    </p:spTree>
    <p:extLst>
      <p:ext uri="{BB962C8B-B14F-4D97-AF65-F5344CB8AC3E}">
        <p14:creationId xmlns:p14="http://schemas.microsoft.com/office/powerpoint/2010/main" val="14007667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34A609-C3BA-4FA4-9CB3-B31A42EE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0B1F3A"/>
                </a:solidFill>
              </a:defRPr>
            </a:pPr>
            <a:r>
              <a:rPr sz="2700" b="1" i="0">
                <a:solidFill>
                  <a:srgbClr val="0B1F3A"/>
                </a:solidFill>
              </a:rPr>
              <a:t>งานติดตั้งเริ่มจากหน้างานจริง ไม่ใช่เดาจากออฟฟิศ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B93E5-33CB-40AE-AC4C-7BDC9BC8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07086"/>
                </a:solidFill>
              </a:defRPr>
            </a:pPr>
            <a:r>
              <a:rPr sz="1350" b="0" i="0">
                <a:solidFill>
                  <a:srgbClr val="607086"/>
                </a:solidFill>
              </a:rPr>
              <a:t>ช่างสามารถสร้างข้อมูลที่เจอจริง แล้วระบบเก็บเป็นประวัติหลังการขาย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1DB63-74CC-4CF5-9396-31CFD42A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07086"/>
                </a:solidFill>
              </a:defRPr>
            </a:pPr>
            <a:r>
              <a:rPr sz="975" b="0" i="0">
                <a:solidFill>
                  <a:srgbClr val="607086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A356C-CB39-4D09-BCF0-C5495025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857375" cy="2000250"/>
          </a:xfrm>
          <a:prstGeom xmlns:a="http://schemas.openxmlformats.org/drawingml/2006/main" prst="roundRect">
            <a:avLst>
              <a:gd name="adj" fmla="val 82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63E8F-DEB3-4321-A998-7361B240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8D8"/>
          </a:solidFill>
          <a:ln xmlns:a="http://schemas.openxmlformats.org/drawingml/2006/main" w="9525">
            <a:solidFill>
              <a:srgbClr val="237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7EB33-1306-4AB0-AA69-7B642032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3812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FC48D-E293-48E0-BF2F-A7CFB3A4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B1F3A"/>
                </a:solidFill>
              </a:defRPr>
            </a:pPr>
            <a:r>
              <a:rPr sz="1575" b="1" i="0">
                <a:solidFill>
                  <a:srgbClr val="0B1F3A"/>
                </a:solidFill>
              </a:rPr>
              <a:t>สร้างลูกค้า / จุดติดตั้ง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B98D5-C3F2-42DA-8759-243644FC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07086"/>
                </a:solidFill>
              </a:defRPr>
            </a:pPr>
            <a:r>
              <a:rPr sz="1125" b="0" i="0">
                <a:solidFill>
                  <a:srgbClr val="607086"/>
                </a:solidFill>
              </a:rPr>
              <a:t>ลูกค้าใหม่หรือเดิมก็ได้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EDE00-062B-4B26-AC05-3BE6C519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956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378D8"/>
                </a:solidFill>
              </a:defRPr>
            </a:pPr>
            <a:r>
              <a:rPr sz="2100" b="1" i="0">
                <a:solidFill>
                  <a:srgbClr val="2378D8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7BE3F-3452-40F0-A3D2-B53F6F50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095500"/>
            <a:ext cx="1857375" cy="2000250"/>
          </a:xfrm>
          <a:prstGeom xmlns:a="http://schemas.openxmlformats.org/drawingml/2006/main" prst="roundRect">
            <a:avLst>
              <a:gd name="adj" fmla="val 82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8785B-7F13-4492-B4E2-14958653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305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8D8"/>
          </a:solidFill>
          <a:ln xmlns:a="http://schemas.openxmlformats.org/drawingml/2006/main" w="9525">
            <a:solidFill>
              <a:srgbClr val="237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67F65-1E97-4E8F-A65D-53BE73D0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812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4811E6-DFF1-4B47-87C7-4E4987D8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905125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B1F3A"/>
                </a:solidFill>
              </a:defRPr>
            </a:pPr>
            <a:r>
              <a:rPr sz="1575" b="1" i="0">
                <a:solidFill>
                  <a:srgbClr val="0B1F3A"/>
                </a:solidFill>
              </a:rPr>
              <a:t>สร้าง Job ติดตั้งใหม่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994E09-6BA1-478E-941F-48BD494D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5242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07086"/>
                </a:solidFill>
              </a:defRPr>
            </a:pPr>
            <a:r>
              <a:rPr sz="1125" b="0" i="0">
                <a:solidFill>
                  <a:srgbClr val="607086"/>
                </a:solidFill>
              </a:rPr>
              <a:t>เป็นงานติดตั้งสำหรับ site ใหม่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D728F-CAA1-484F-BE17-F7846D70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8956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378D8"/>
                </a:solidFill>
              </a:defRPr>
            </a:pPr>
            <a:r>
              <a:rPr sz="2100" b="1" i="0">
                <a:solidFill>
                  <a:srgbClr val="2378D8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866260-E6FC-4A1A-993C-63688F1D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95500"/>
            <a:ext cx="1857375" cy="2000250"/>
          </a:xfrm>
          <a:prstGeom xmlns:a="http://schemas.openxmlformats.org/drawingml/2006/main" prst="roundRect">
            <a:avLst>
              <a:gd name="adj" fmla="val 82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5260A-5763-4460-9A4A-5162A1F1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05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8D8"/>
          </a:solidFill>
          <a:ln xmlns:a="http://schemas.openxmlformats.org/drawingml/2006/main" w="9525">
            <a:solidFill>
              <a:srgbClr val="2378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17906-3EF0-4626-A00D-8A5CA898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3812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D0DF07-06CD-4E9F-9A81-08452F75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05125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B1F3A"/>
                </a:solidFill>
              </a:defRPr>
            </a:pPr>
            <a:r>
              <a:rPr sz="1575" b="1" i="0">
                <a:solidFill>
                  <a:srgbClr val="0B1F3A"/>
                </a:solidFill>
              </a:rPr>
              <a:t>ช่างรับงาน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C32106-8DEC-41B9-BB90-A9F56F19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5242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07086"/>
                </a:solidFill>
              </a:defRPr>
            </a:pPr>
            <a:r>
              <a:rPr sz="1125" b="0" i="0">
                <a:solidFill>
                  <a:srgbClr val="607086"/>
                </a:solidFill>
              </a:rPr>
              <a:t>กดรับเองแล้วไปหน้างาน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F7E2F4-9D31-476D-BBEA-646C8E1A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956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378D8"/>
                </a:solidFill>
              </a:defRPr>
            </a:pPr>
            <a:r>
              <a:rPr sz="2100" b="1" i="0">
                <a:solidFill>
                  <a:srgbClr val="2378D8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E0DC6C-9B65-4A9F-BA1A-262BAFCE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095500"/>
            <a:ext cx="1857375" cy="2000250"/>
          </a:xfrm>
          <a:prstGeom xmlns:a="http://schemas.openxmlformats.org/drawingml/2006/main" prst="roundRect">
            <a:avLst>
              <a:gd name="adj" fmla="val 82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663A8E-47F1-4531-BEEA-2135842C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305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8D8"/>
          </a:solidFill>
          <a:ln xmlns:a="http://schemas.openxmlformats.org/drawingml/2006/main" w="9525">
            <a:solidFill>
              <a:srgbClr val="2378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8D5EB2-995F-419C-820F-2498D582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812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0F8CD5-F156-439E-99E9-35E4A8F2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905125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B1F3A"/>
                </a:solidFill>
              </a:defRPr>
            </a:pPr>
            <a:r>
              <a:rPr sz="1575" b="1" i="0">
                <a:solidFill>
                  <a:srgbClr val="0B1F3A"/>
                </a:solidFill>
              </a:rPr>
              <a:t>เลือก/เพิ่มอุปกรณ์จริง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5BEA51-890D-4683-B3D2-F40BBFE3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5242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07086"/>
                </a:solidFill>
              </a:defRPr>
            </a:pPr>
            <a:r>
              <a:rPr sz="1125" b="0" i="0">
                <a:solidFill>
                  <a:srgbClr val="607086"/>
                </a:solidFill>
              </a:rPr>
              <a:t>ใช้ serial และวันที่ซื้อ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7D767A-2932-48D9-B675-88302348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8956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378D8"/>
                </a:solidFill>
              </a:defRPr>
            </a:pPr>
            <a:r>
              <a:rPr sz="2100" b="1" i="0">
                <a:solidFill>
                  <a:srgbClr val="2378D8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61FC52-4847-4220-9967-38F8FC97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95500"/>
            <a:ext cx="1857375" cy="2000250"/>
          </a:xfrm>
          <a:prstGeom xmlns:a="http://schemas.openxmlformats.org/drawingml/2006/main" prst="roundRect">
            <a:avLst>
              <a:gd name="adj" fmla="val 82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9A8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EA4E79-7051-433C-80A4-77A66584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305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8D8"/>
          </a:solidFill>
          <a:ln xmlns:a="http://schemas.openxmlformats.org/drawingml/2006/main" w="9525">
            <a:solidFill>
              <a:srgbClr val="2378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C7FDEE-0997-423D-8987-5518DBD7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3812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1DB213-BBDC-4AD5-93D3-C7430CF3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05125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B1F3A"/>
                </a:solidFill>
              </a:defRPr>
            </a:pPr>
            <a:r>
              <a:rPr sz="1575" b="1" i="0">
                <a:solidFill>
                  <a:srgbClr val="0B1F3A"/>
                </a:solidFill>
              </a:rPr>
              <a:t>แนบรูปและปิดงาน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F06C7C-E9A6-4E51-9F2C-D67C1622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242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07086"/>
                </a:solidFill>
              </a:defRPr>
            </a:pPr>
            <a:r>
              <a:rPr sz="1125" b="0" i="0">
                <a:solidFill>
                  <a:srgbClr val="607086"/>
                </a:solidFill>
              </a:rPr>
              <a:t>เริ่มนับระยะดูแล</a:t>
            </a:r>
          </a:p>
        </p:txBody>
      </p:sp>
    </p:spTree>
    <p:extLst>
      <p:ext uri="{BB962C8B-B14F-4D97-AF65-F5344CB8AC3E}">
        <p14:creationId xmlns:p14="http://schemas.microsoft.com/office/powerpoint/2010/main" val="1942353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2A44B2-FA1A-4C09-BA66-857B6F8D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0B1F3A"/>
                </a:solidFill>
              </a:defRPr>
            </a:pPr>
            <a:r>
              <a:rPr sz="2700" b="1" i="0">
                <a:solidFill>
                  <a:srgbClr val="0B1F3A"/>
                </a:solidFill>
              </a:rPr>
              <a:t>เคสซ่อมและงานบริการเดินต่อได้โดยไม่หลุดคิว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3591A-F317-4DC4-9379-B39AAA1E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07086"/>
                </a:solidFill>
              </a:defRPr>
            </a:pPr>
            <a:r>
              <a:rPr sz="1350" b="0" i="0">
                <a:solidFill>
                  <a:srgbClr val="607086"/>
                </a:solidFill>
              </a:rPr>
              <a:t>ลูกค้าแจ้งเองได้ แอดมินสร้างเองได้ และช่างรับงานต่อได้ทันที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06B82-067C-4ACF-B309-F2877C9A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07086"/>
                </a:solidFill>
              </a:defRPr>
            </a:pPr>
            <a:r>
              <a:rPr sz="975" b="0" i="0">
                <a:solidFill>
                  <a:srgbClr val="607086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0D26F-2EFD-48DA-8706-A419E3B9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2857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28478-7885-47DD-B293-C3E55F9E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76200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723809-475C-4BCD-B028-CB0E71B1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2405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</a:defRPr>
            </a:pPr>
            <a:r>
              <a:rPr sz="1650" b="1" i="0">
                <a:solidFill>
                  <a:srgbClr val="0B1F3A"/>
                </a:solidFill>
              </a:rPr>
              <a:t>รับแจ้งปัญหา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AA57A-4223-4F9E-B66D-33CE41D0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2400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07086"/>
                </a:solidFill>
              </a:defRPr>
            </a:pPr>
            <a:r>
              <a:rPr sz="1275" b="0" i="0">
                <a:solidFill>
                  <a:srgbClr val="607086"/>
                </a:solidFill>
              </a:rPr>
              <a:t>ผ่าน LINE OA หรือแอดมินบันทึกให้ลูกค้า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7433D-9365-4564-BFAA-C6B2B6DE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14500"/>
            <a:ext cx="2857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CAA82-371A-4444-BF7C-729496A1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14500"/>
            <a:ext cx="76200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B0678-4E0B-480C-8514-F2568797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2405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</a:defRPr>
            </a:pPr>
            <a:r>
              <a:rPr sz="1650" b="1" i="0">
                <a:solidFill>
                  <a:srgbClr val="0B1F3A"/>
                </a:solidFill>
              </a:rPr>
              <a:t>สร้างเคสบริการ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0DDA0-0563-4000-B925-E7E5E421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24100"/>
            <a:ext cx="2400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07086"/>
                </a:solidFill>
              </a:defRPr>
            </a:pPr>
            <a:r>
              <a:rPr sz="1275" b="0" i="0">
                <a:solidFill>
                  <a:srgbClr val="607086"/>
                </a:solidFill>
              </a:rPr>
              <a:t>เลือกจุดติดตั้ง อุปกรณ์ที่มีปัญหา และเวลานัดหมาย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53147F-E025-4BB3-8018-DE633274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14500"/>
            <a:ext cx="2857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E942F-63A4-4592-820C-51D8E514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14500"/>
            <a:ext cx="76200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A88A"/>
          </a:solidFill>
          <a:ln xmlns:a="http://schemas.openxmlformats.org/drawingml/2006/main" w="9525">
            <a:solidFill>
              <a:srgbClr val="19A8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C802F-7CA9-45DC-AC49-3EB5176B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2405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</a:defRPr>
            </a:pPr>
            <a:r>
              <a:rPr sz="1650" b="1" i="0">
                <a:solidFill>
                  <a:srgbClr val="0B1F3A"/>
                </a:solidFill>
              </a:rPr>
              <a:t>ทีมช่างรับงาน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C8809-15D6-45F0-BFA4-23D6CCA0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24100"/>
            <a:ext cx="2400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07086"/>
                </a:solidFill>
              </a:defRPr>
            </a:pPr>
            <a:r>
              <a:rPr sz="1275" b="0" i="0">
                <a:solidFill>
                  <a:srgbClr val="607086"/>
                </a:solidFill>
              </a:rPr>
              <a:t>ระบบแจ้งเตือนและช่างกดรับเคสเข้าหน้างานของฉัน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4CBF9D-6D1D-4A06-BD22-93DE9EAB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907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378D8"/>
                </a:solidFill>
              </a:defRPr>
            </a:pPr>
            <a:r>
              <a:rPr sz="2100" b="1" i="0">
                <a:solidFill>
                  <a:srgbClr val="2378D8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C939B6-81AE-4528-B87A-BDE452E7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1907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378D8"/>
                </a:solidFill>
              </a:defRPr>
            </a:pPr>
            <a:r>
              <a:rPr sz="2100" b="1" i="0">
                <a:solidFill>
                  <a:srgbClr val="2378D8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0930FE-6790-466A-8447-932D27BA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3714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764821-22BB-46DF-9180-A71CA20E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8D8"/>
          </a:solidFill>
          <a:ln xmlns:a="http://schemas.openxmlformats.org/drawingml/2006/main" w="9525">
            <a:solidFill>
              <a:srgbClr val="2378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CB12D7-F808-4F0B-97A7-F4FB4FE2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114800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</a:defRPr>
            </a:pPr>
            <a:r>
              <a:rPr sz="1650" b="1" i="0">
                <a:solidFill>
                  <a:srgbClr val="0B1F3A"/>
                </a:solidFill>
              </a:rPr>
              <a:t>บันทึกหน้างาน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BB5C3B-B9A5-407E-B348-D890AAF9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14850"/>
            <a:ext cx="3257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07086"/>
                </a:solidFill>
              </a:defRPr>
            </a:pPr>
            <a:r>
              <a:rPr sz="1275" b="0" i="0">
                <a:solidFill>
                  <a:srgbClr val="607086"/>
                </a:solidFill>
              </a:rPr>
              <a:t>อาการซ่อม รูปหลักฐาน อุปกรณ์ที่เปลี่ยน เพิ่ม หรือลด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710866-445D-40A4-AB2B-6287265D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05250"/>
            <a:ext cx="3714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CCF7A2-62D4-46DA-9B26-C10C5A8E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052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73F5B7-0428-46F2-A97D-892C5906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14800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</a:defRPr>
            </a:pPr>
            <a:r>
              <a:rPr sz="1650" b="1" i="0">
                <a:solidFill>
                  <a:srgbClr val="0B1F3A"/>
                </a:solidFill>
              </a:rPr>
              <a:t>ปิดงานและดูย้อนหลัง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BFB068-FBBD-4D2C-8092-FD61D9B9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14850"/>
            <a:ext cx="3257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07086"/>
                </a:solidFill>
              </a:defRPr>
            </a:pPr>
            <a:r>
              <a:rPr sz="1275" b="0" i="0">
                <a:solidFill>
                  <a:srgbClr val="607086"/>
                </a:solidFill>
              </a:rPr>
              <a:t>แอดมินเห็นสถานะ รูป และสรุปงานแบบเรียลไทม์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196701-B1A3-47EE-AEA0-9A103B19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005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378D8"/>
                </a:solidFill>
              </a:defRPr>
            </a:pPr>
            <a:r>
              <a:rPr sz="2100" b="1" i="0">
                <a:solidFill>
                  <a:srgbClr val="2378D8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9155844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28D9B0-4188-41C6-B8E0-BCE5CC80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0B1F3A"/>
                </a:solidFill>
              </a:defRPr>
            </a:pPr>
            <a:r>
              <a:rPr sz="2700" b="1" i="0">
                <a:solidFill>
                  <a:srgbClr val="0B1F3A"/>
                </a:solidFill>
              </a:rPr>
              <a:t>LINE OA ทำให้ลูกค้าเข้าระบบได้โดยไม่ต้องลงแอปใหม่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A6066-C8BC-4F41-BA8A-FA647BD9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07086"/>
                </a:solidFill>
              </a:defRPr>
            </a:pPr>
            <a:r>
              <a:rPr sz="1350" b="0" i="0">
                <a:solidFill>
                  <a:srgbClr val="607086"/>
                </a:solidFill>
              </a:rPr>
              <a:t>ใช้ QR เพิ่มเพื่อนและรหัส TYTC0000 เพื่อผูกลูกค้าให้ถูกคน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67253-708E-4D77-8373-20ABB28A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07086"/>
                </a:solidFill>
              </a:defRPr>
            </a:pPr>
            <a:r>
              <a:rPr sz="975" b="0" i="0">
                <a:solidFill>
                  <a:srgbClr val="607086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79E21-28C3-402B-83D3-9CE51E09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857500" cy="34290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6C7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93BC8-4561-45C1-996F-307C2126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6C755"/>
                </a:solidFill>
              </a:defRPr>
            </a:pPr>
            <a:r>
              <a:rPr sz="2550" b="1" i="0">
                <a:solidFill>
                  <a:srgbClr val="06C755"/>
                </a:solidFill>
              </a:rPr>
              <a:t>LINE OA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1719C-F977-42C6-ACD6-0C8C9839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171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32238"/>
                </a:solidFill>
              </a:defRPr>
            </a:pPr>
            <a:r>
              <a:rPr sz="1800" b="0" i="0">
                <a:solidFill>
                  <a:srgbClr val="132238"/>
                </a:solidFill>
              </a:rPr>
              <a:t>QR เพิ่มเพื่อน</a:t>
            </a:r>
          </a:p>
          <a:p xmlns:a="http://schemas.openxmlformats.org/drawingml/2006/main">
            <a:pPr>
              <a:defRPr sz="1800" b="0" i="0">
                <a:solidFill>
                  <a:srgbClr val="132238"/>
                </a:solidFill>
              </a:defRPr>
            </a:pPr>
            <a:r>
              <a:rPr sz="1800" b="0" i="0">
                <a:solidFill>
                  <a:srgbClr val="132238"/>
                </a:solidFill>
              </a:rPr>
              <a:t>รหัสผูกบัญชี</a:t>
            </a:r>
          </a:p>
          <a:p xmlns:a="http://schemas.openxmlformats.org/drawingml/2006/main">
            <a:pPr>
              <a:defRPr sz="1800" b="0" i="0">
                <a:solidFill>
                  <a:srgbClr val="132238"/>
                </a:solidFill>
              </a:defRPr>
            </a:pPr>
            <a:r>
              <a:rPr sz="1800" b="0" i="0">
                <a:solidFill>
                  <a:srgbClr val="132238"/>
                </a:solidFill>
              </a:rPr>
              <a:t>แจ้งเตือนรอบดูแล</a:t>
            </a:r>
          </a:p>
          <a:p xmlns:a="http://schemas.openxmlformats.org/drawingml/2006/main">
            <a:pPr>
              <a:defRPr sz="1800" b="0" i="0">
                <a:solidFill>
                  <a:srgbClr val="132238"/>
                </a:solidFill>
              </a:defRPr>
            </a:pPr>
            <a:r>
              <a:rPr sz="1800" b="0" i="0">
                <a:solidFill>
                  <a:srgbClr val="132238"/>
                </a:solidFill>
              </a:rPr>
              <a:t>เมนูแจ้งปัญหา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EB03B-8630-4F33-8F5E-1624343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71625"/>
            <a:ext cx="6191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0FE79-27F8-4685-BCDC-F40AC92F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71625"/>
            <a:ext cx="7620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8D8"/>
          </a:solidFill>
          <a:ln xmlns:a="http://schemas.openxmlformats.org/drawingml/2006/main" w="9525">
            <a:solidFill>
              <a:srgbClr val="237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82DD1-2417-4EBD-98FB-CC9D0AFB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81175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</a:defRPr>
            </a:pPr>
            <a:r>
              <a:rPr sz="1650" b="1" i="0">
                <a:solidFill>
                  <a:srgbClr val="0B1F3A"/>
                </a:solidFill>
              </a:rPr>
              <a:t>ผูกลูกค้าถูกคน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AE3CE-4ABA-4806-B53A-00C92DD0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81225"/>
            <a:ext cx="573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07086"/>
                </a:solidFill>
              </a:defRPr>
            </a:pPr>
            <a:r>
              <a:rPr sz="1275" b="0" i="0">
                <a:solidFill>
                  <a:srgbClr val="607086"/>
                </a:solidFill>
              </a:rPr>
              <a:t>ลูกค้าส่งรหัสสั้น TYTC0000 ระบบบันทึก LINE User 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58B0D-52CE-4F2E-A0D1-B5DA7071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90825"/>
            <a:ext cx="6191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C46F6-7881-4A28-A185-F46EB0C3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90825"/>
            <a:ext cx="7620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A88A"/>
          </a:solidFill>
          <a:ln xmlns:a="http://schemas.openxmlformats.org/drawingml/2006/main" w="9525">
            <a:solidFill>
              <a:srgbClr val="19A8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FB605-9D25-4C9A-9209-DF85DC07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00375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</a:defRPr>
            </a:pPr>
            <a:r>
              <a:rPr sz="1650" b="1" i="0">
                <a:solidFill>
                  <a:srgbClr val="0B1F3A"/>
                </a:solidFill>
              </a:rPr>
              <a:t>ถามอาการตามรอบ 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0262BD-1E15-4104-800C-511C29D7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00425"/>
            <a:ext cx="573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07086"/>
                </a:solidFill>
              </a:defRPr>
            </a:pPr>
            <a:r>
              <a:rPr sz="1275" b="0" i="0">
                <a:solidFill>
                  <a:srgbClr val="607086"/>
                </a:solidFill>
              </a:rPr>
              <a:t>ข้อความอัตโนมัติถามว่ามีปัญหาหรือไม่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5544E-4D9C-4CAE-870A-888F5175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10025"/>
            <a:ext cx="6191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302072-8EA6-45BF-B0BE-A32B62C8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10025"/>
            <a:ext cx="7620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2E22A5-6771-4F7C-843B-5F76AE15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19575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</a:defRPr>
            </a:pPr>
            <a:r>
              <a:rPr sz="1650" b="1" i="0">
                <a:solidFill>
                  <a:srgbClr val="0B1F3A"/>
                </a:solidFill>
              </a:rPr>
              <a:t>แจ้งเคสเข้าไลน์ทีมช่าง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AC8A68-6353-4AC7-83CD-2428F5DF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19625"/>
            <a:ext cx="573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07086"/>
                </a:solidFill>
              </a:defRPr>
            </a:pPr>
            <a:r>
              <a:rPr sz="1275" b="0" i="0">
                <a:solidFill>
                  <a:srgbClr val="607086"/>
                </a:solidFill>
              </a:rPr>
              <a:t>เมื่อมีปัญหาใหม่ ทีมเห็นทันทีและรับงานได้เร็ว</a:t>
            </a:r>
          </a:p>
        </p:txBody>
      </p:sp>
    </p:spTree>
    <p:extLst>
      <p:ext uri="{BB962C8B-B14F-4D97-AF65-F5344CB8AC3E}">
        <p14:creationId xmlns:p14="http://schemas.microsoft.com/office/powerpoint/2010/main" val="1200098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509178-1E7A-490D-AD2D-34168C5F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0B1F3A"/>
                </a:solidFill>
              </a:defRPr>
            </a:pPr>
            <a:r>
              <a:rPr sz="2700" b="1" i="0">
                <a:solidFill>
                  <a:srgbClr val="0B1F3A"/>
                </a:solidFill>
              </a:rPr>
              <a:t>แอดมินเห็นงานทั้งหมดโดยไม่ต้องไล่ถามทีละคน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5811C-0091-4611-AE81-D89F4C19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07086"/>
                </a:solidFill>
              </a:defRPr>
            </a:pPr>
            <a:r>
              <a:rPr sz="1350" b="0" i="0">
                <a:solidFill>
                  <a:srgbClr val="607086"/>
                </a:solidFill>
              </a:rPr>
              <a:t>หน้าบ้านออกแบบให้ดูสถานะและหลักฐานได้เร็ว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C44A2-BB91-4DA5-9BEE-885AF889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07086"/>
                </a:solidFill>
              </a:defRPr>
            </a:pPr>
            <a:r>
              <a:rPr sz="975" b="0" i="0">
                <a:solidFill>
                  <a:srgbClr val="607086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7944E-F9E0-4AC3-B91E-91101B3E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3143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5CE59-D0B0-46EC-A2EF-C3747B41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8D8"/>
          </a:solidFill>
          <a:ln xmlns:a="http://schemas.openxmlformats.org/drawingml/2006/main" w="9525">
            <a:solidFill>
              <a:srgbClr val="237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FD730-B33C-4375-8BD9-CB8739DA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288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</a:defRPr>
            </a:pPr>
            <a:r>
              <a:rPr sz="1650" b="1" i="0">
                <a:solidFill>
                  <a:srgbClr val="0B1F3A"/>
                </a:solidFill>
              </a:rPr>
              <a:t>Dashboard งานวันนี้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1EC269-2527-4CE5-A443-3F7C78CD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28850"/>
            <a:ext cx="2686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07086"/>
                </a:solidFill>
              </a:defRPr>
            </a:pPr>
            <a:r>
              <a:rPr sz="1275" b="0" i="0">
                <a:solidFill>
                  <a:srgbClr val="607086"/>
                </a:solidFill>
              </a:rPr>
              <a:t>เห็นลูกค้า จุดติดตั้ง อุปกรณ์ เคสค้าง และงานใกล้ครบระยะดูแล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80649-8D3A-4A57-A4D1-96F10C7E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19250"/>
            <a:ext cx="3143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262D5-79B6-4982-9FDC-D1FF1C47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1925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A88A"/>
          </a:solidFill>
          <a:ln xmlns:a="http://schemas.openxmlformats.org/drawingml/2006/main" w="9525">
            <a:solidFill>
              <a:srgbClr val="19A8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DE757E-B0F5-4708-A1D9-B3DC9E71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288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</a:defRPr>
            </a:pPr>
            <a:r>
              <a:rPr sz="1650" b="1" i="0">
                <a:solidFill>
                  <a:srgbClr val="0B1F3A"/>
                </a:solidFill>
              </a:rPr>
              <a:t>สถานะงานเรียลไทม์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C53CF-3757-4F13-98B2-B23ED5F8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28850"/>
            <a:ext cx="2686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07086"/>
                </a:solidFill>
              </a:defRPr>
            </a:pPr>
            <a:r>
              <a:rPr sz="1275" b="0" i="0">
                <a:solidFill>
                  <a:srgbClr val="607086"/>
                </a:solidFill>
              </a:rPr>
              <a:t>ดูงานรอรับ กำลังทำ และปิดงานแล้ว พร้อมรูปจากช่าง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9A7C3B-F319-4A08-9B68-0296F79B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19250"/>
            <a:ext cx="3143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4374E8-F05A-4BEB-AF89-848C21D7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1925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ABDC09-1207-4885-9548-D936D84A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288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</a:defRPr>
            </a:pPr>
            <a:r>
              <a:rPr sz="1650" b="1" i="0">
                <a:solidFill>
                  <a:srgbClr val="0B1F3A"/>
                </a:solidFill>
              </a:rPr>
              <a:t>ข้อมูลลูกค้าเป็นระบบ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6CB3F-3293-48E8-A1C2-C1789BC9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28850"/>
            <a:ext cx="2686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07086"/>
                </a:solidFill>
              </a:defRPr>
            </a:pPr>
            <a:r>
              <a:rPr sz="1275" b="0" i="0">
                <a:solidFill>
                  <a:srgbClr val="607086"/>
                </a:solidFill>
              </a:rPr>
              <a:t>จัดการลูกค้า จุดติดตั้ง อุปกรณ์จริง ประกัน และรอบดูแล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BEC17C-099C-4526-ABF4-47920866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99060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F62C92-C24D-471B-A65B-8B804BF8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ผลลัพธ์: ตอบลูกค้าเร็วขึ้น ลดงานตกหล่น และมีหลักฐานหน้างานย้อนดูได้</a:t>
            </a:r>
          </a:p>
        </p:txBody>
      </p:sp>
    </p:spTree>
    <p:extLst>
      <p:ext uri="{BB962C8B-B14F-4D97-AF65-F5344CB8AC3E}">
        <p14:creationId xmlns:p14="http://schemas.microsoft.com/office/powerpoint/2010/main" val="458438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50EF33-1C53-4E97-8DD6-0428EBD8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0B1F3A"/>
                </a:solidFill>
              </a:defRPr>
            </a:pPr>
            <a:r>
              <a:rPr sz="2700" b="1" i="0">
                <a:solidFill>
                  <a:srgbClr val="0B1F3A"/>
                </a:solidFill>
              </a:rPr>
              <a:t>ช่างทำงานผ่านมือถือได้เหมือนแอป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184CB-D807-4393-A117-B06A0534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07086"/>
                </a:solidFill>
              </a:defRPr>
            </a:pPr>
            <a:r>
              <a:rPr sz="1350" b="0" i="0">
                <a:solidFill>
                  <a:srgbClr val="607086"/>
                </a:solidFill>
              </a:rPr>
              <a:t>เหมาะกับทีมเล็กที่ต้องเริ่มใช้งานจริงเร็ว โดยยังไม่ต้องทำแอป iOS เต็มรูปแบบ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D37AD-BF54-45CC-8268-F61185C8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07086"/>
                </a:solidFill>
              </a:defRPr>
            </a:pPr>
            <a:r>
              <a:rPr sz="975" b="0" i="0">
                <a:solidFill>
                  <a:srgbClr val="607086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52F7A-4CE0-4154-BF9D-A9E6B60C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3143250" cy="41910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322F0-3A24-41C3-9D8D-DED7DC97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05000"/>
            <a:ext cx="2476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FC905-2EA0-42CF-80AF-2875FEA8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</a:defRPr>
            </a:pPr>
            <a:r>
              <a:rPr sz="1650" b="1" i="0">
                <a:solidFill>
                  <a:srgbClr val="0B1F3A"/>
                </a:solidFill>
              </a:rPr>
              <a:t>งานของฉัน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E6027-2EC1-4746-924F-53E032FB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2476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32185-06CE-4AA3-A9D9-05EC56CE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8D8"/>
          </a:solidFill>
          <a:ln xmlns:a="http://schemas.openxmlformats.org/drawingml/2006/main" w="9525">
            <a:solidFill>
              <a:srgbClr val="237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CD9D2-697C-4873-809E-0333E1F2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87655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B1F3A"/>
                </a:solidFill>
              </a:defRPr>
            </a:pPr>
            <a:r>
              <a:rPr sz="1425" b="1" i="0">
                <a:solidFill>
                  <a:srgbClr val="0B1F3A"/>
                </a:solidFill>
              </a:rPr>
              <a:t>รับเคส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C0E40-052E-4834-B505-E63BAFC6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2476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DEED2-9B8F-483F-AB0D-F0C2041E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A88A"/>
          </a:solidFill>
          <a:ln xmlns:a="http://schemas.openxmlformats.org/drawingml/2006/main" w="9525">
            <a:solidFill>
              <a:srgbClr val="19A8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2FBCF-D9C9-49AE-BFE1-F8960D36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4330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B1F3A"/>
                </a:solidFill>
              </a:defRPr>
            </a:pPr>
            <a:r>
              <a:rPr sz="1425" b="1" i="0">
                <a:solidFill>
                  <a:srgbClr val="0B1F3A"/>
                </a:solidFill>
              </a:rPr>
              <a:t>เพิ่มอุปกรณ์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E547B-E0B6-42A5-99FF-54B114C8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00500"/>
            <a:ext cx="2476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EEFB4F-2FA4-4B0A-808F-B4AC2B1C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005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D0DF6-AB3C-48E0-979D-F0515759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21005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B1F3A"/>
                </a:solidFill>
              </a:defRPr>
            </a:pPr>
            <a:r>
              <a:rPr sz="1425" b="1" i="0">
                <a:solidFill>
                  <a:srgbClr val="0B1F3A"/>
                </a:solidFill>
              </a:rPr>
              <a:t>ถ่ายรูปหลักฐาน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689A80-C08C-493C-885B-DD49B8FF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67250"/>
            <a:ext cx="2476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3F2D9F-3929-47BB-B609-552F50EA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6725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C755"/>
          </a:solidFill>
          <a:ln xmlns:a="http://schemas.openxmlformats.org/drawingml/2006/main" w="9525">
            <a:solidFill>
              <a:srgbClr val="06C7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D23538-85F5-40B6-9A5B-9ECA1D0C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87680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B1F3A"/>
                </a:solidFill>
              </a:defRPr>
            </a:pPr>
            <a:r>
              <a:rPr sz="1425" b="1" i="0">
                <a:solidFill>
                  <a:srgbClr val="0B1F3A"/>
                </a:solidFill>
              </a:rPr>
              <a:t>ปิดงาน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833810-7E21-472D-B323-8F19981D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762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43C9C3-653C-4876-B946-1FDBF76A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8D8"/>
          </a:solidFill>
          <a:ln xmlns:a="http://schemas.openxmlformats.org/drawingml/2006/main" w="9525">
            <a:solidFill>
              <a:srgbClr val="2378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949B15-6ADF-4446-95AC-05D7A244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240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</a:defRPr>
            </a:pPr>
            <a:r>
              <a:rPr sz="1650" b="1" i="0">
                <a:solidFill>
                  <a:srgbClr val="0B1F3A"/>
                </a:solidFill>
              </a:rPr>
              <a:t>รับงานเอง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A8F8DF-2198-4A2B-8FA3-3EB83BA6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24100"/>
            <a:ext cx="2305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07086"/>
                </a:solidFill>
              </a:defRPr>
            </a:pPr>
            <a:r>
              <a:rPr sz="1275" b="0" i="0">
                <a:solidFill>
                  <a:srgbClr val="607086"/>
                </a:solidFill>
              </a:rPr>
              <a:t>ช่างเห็นเคสทั้งหมดและกดรับเข้าหน้างานของฉัน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C1EC97-7586-4E5E-A125-C6800587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14500"/>
            <a:ext cx="2762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A73BEB-5285-4B4F-AEBA-5EF658C6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145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A88A"/>
          </a:solidFill>
          <a:ln xmlns:a="http://schemas.openxmlformats.org/drawingml/2006/main" w="9525">
            <a:solidFill>
              <a:srgbClr val="19A8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7F0888-8BF0-4ABA-927F-EBDE677E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240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</a:defRPr>
            </a:pPr>
            <a:r>
              <a:rPr sz="1650" b="1" i="0">
                <a:solidFill>
                  <a:srgbClr val="0B1F3A"/>
                </a:solidFill>
              </a:rPr>
              <a:t>เพิ่มข้อมูลจริง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A3F255-5535-49B6-B272-115D47B4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2305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07086"/>
                </a:solidFill>
              </a:defRPr>
            </a:pPr>
            <a:r>
              <a:rPr sz="1275" b="0" i="0">
                <a:solidFill>
                  <a:srgbClr val="607086"/>
                </a:solidFill>
              </a:rPr>
              <a:t>เพิ่มลูกค้า จุดติดตั้ง โมเดล และอุปกรณ์จากหน้างาน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ACC1DB-3E9B-4CAA-86D0-350EF138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57625"/>
            <a:ext cx="2762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3E84AA-984A-46BE-88C1-156D6906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5762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CCABB6-2165-40AD-A6DB-352CF968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67175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</a:defRPr>
            </a:pPr>
            <a:r>
              <a:rPr sz="1650" b="1" i="0">
                <a:solidFill>
                  <a:srgbClr val="0B1F3A"/>
                </a:solidFill>
              </a:rPr>
              <a:t>เก็บหลักฐานครบ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3E4043-8A7E-4F09-A7EE-8E919AA8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67225"/>
            <a:ext cx="2305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07086"/>
                </a:solidFill>
              </a:defRPr>
            </a:pPr>
            <a:r>
              <a:rPr sz="1275" b="0" i="0">
                <a:solidFill>
                  <a:srgbClr val="607086"/>
                </a:solidFill>
              </a:rPr>
              <a:t>แนบรูปก่อนซ่อม ระหว่างซ่อม และหลังจบงาน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39BE9D-0EC0-42BE-8AF3-E5F030EB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2762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AB68A8-C08D-4A4A-A3A2-0869087C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C755"/>
          </a:solidFill>
          <a:ln xmlns:a="http://schemas.openxmlformats.org/drawingml/2006/main" w="9525">
            <a:solidFill>
              <a:srgbClr val="06C75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C874AB-BF05-48AA-B62A-47C3B6A7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67175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1F3A"/>
                </a:solidFill>
              </a:defRPr>
            </a:pPr>
            <a:r>
              <a:rPr sz="1650" b="1" i="0">
                <a:solidFill>
                  <a:srgbClr val="0B1F3A"/>
                </a:solidFill>
              </a:rPr>
              <a:t>ใช้ง่ายบนมือถือ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9FB130-8199-4619-844E-A7135EA0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67225"/>
            <a:ext cx="2305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07086"/>
                </a:solidFill>
              </a:defRPr>
            </a:pPr>
            <a:r>
              <a:rPr sz="1275" b="0" i="0">
                <a:solidFill>
                  <a:srgbClr val="607086"/>
                </a:solidFill>
              </a:rPr>
              <a:t>เปิดผ่าน PWA หรือ APK สำหรับ Android</a:t>
            </a:r>
          </a:p>
        </p:txBody>
      </p:sp>
    </p:spTree>
    <p:extLst>
      <p:ext uri="{BB962C8B-B14F-4D97-AF65-F5344CB8AC3E}">
        <p14:creationId xmlns:p14="http://schemas.microsoft.com/office/powerpoint/2010/main" val="8258097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5BFB38-515E-4E23-944D-BB0E16E6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0B1F3A"/>
                </a:solidFill>
              </a:defRPr>
            </a:pPr>
            <a:r>
              <a:rPr sz="2700" b="1" i="0">
                <a:solidFill>
                  <a:srgbClr val="0B1F3A"/>
                </a:solidFill>
              </a:rPr>
              <a:t>เริ่มใช้ระบบได้จากข้อมูลพื้นฐาน แล้วค่อยขยายตามงานจริง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67F3C-9591-44D6-8B7B-B88270C2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07086"/>
                </a:solidFill>
              </a:defRPr>
            </a:pPr>
            <a:r>
              <a:rPr sz="1350" b="0" i="0">
                <a:solidFill>
                  <a:srgbClr val="607086"/>
                </a:solidFill>
              </a:rPr>
              <a:t>เหมาะกับธุรกิจที่ต้องดูแลลูกค้าหลังติดตั้งอย่างต่อเนื่อง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750BA-93B6-4981-864A-40CE943F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07086"/>
                </a:solidFill>
              </a:defRPr>
            </a:pPr>
            <a:r>
              <a:rPr sz="975" b="0" i="0">
                <a:solidFill>
                  <a:srgbClr val="607086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A4CEBB-772A-446F-9974-09DF1DE7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0B1F3A"/>
                </a:solidFill>
              </a:defRPr>
            </a:pPr>
            <a:r>
              <a:rPr sz="2400" b="1" i="0">
                <a:solidFill>
                  <a:srgbClr val="0B1F3A"/>
                </a:solidFill>
              </a:rPr>
              <a:t>สิ่งที่ระบบช่วยให้ดีขึ้น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AAB8F-C44C-40A8-B196-7B306266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4286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32238"/>
                </a:solidFill>
              </a:defRPr>
            </a:pPr>
            <a:r>
              <a:rPr sz="2025" b="0" i="0">
                <a:solidFill>
                  <a:srgbClr val="132238"/>
                </a:solidFill>
              </a:rPr>
              <a:t>ลดงานหลุด</a:t>
            </a:r>
          </a:p>
          <a:p xmlns:a="http://schemas.openxmlformats.org/drawingml/2006/main">
            <a:pPr>
              <a:defRPr sz="2025" b="0" i="0">
                <a:solidFill>
                  <a:srgbClr val="132238"/>
                </a:solidFill>
              </a:defRPr>
            </a:pPr>
            <a:r>
              <a:rPr sz="2025" b="0" i="0">
                <a:solidFill>
                  <a:srgbClr val="132238"/>
                </a:solidFill>
              </a:rPr>
              <a:t>เห็นสถานะตรงกัน</a:t>
            </a:r>
          </a:p>
          <a:p xmlns:a="http://schemas.openxmlformats.org/drawingml/2006/main">
            <a:pPr>
              <a:defRPr sz="2025" b="0" i="0">
                <a:solidFill>
                  <a:srgbClr val="132238"/>
                </a:solidFill>
              </a:defRPr>
            </a:pPr>
            <a:r>
              <a:rPr sz="2025" b="0" i="0">
                <a:solidFill>
                  <a:srgbClr val="132238"/>
                </a:solidFill>
              </a:rPr>
              <a:t>มีรูปหลักฐานครบ</a:t>
            </a:r>
          </a:p>
          <a:p xmlns:a="http://schemas.openxmlformats.org/drawingml/2006/main">
            <a:pPr>
              <a:defRPr sz="2025" b="0" i="0">
                <a:solidFill>
                  <a:srgbClr val="132238"/>
                </a:solidFill>
              </a:defRPr>
            </a:pPr>
            <a:r>
              <a:rPr sz="2025" b="0" i="0">
                <a:solidFill>
                  <a:srgbClr val="132238"/>
                </a:solidFill>
              </a:rPr>
              <a:t>ดูแลลูกค้าตามรอบ</a:t>
            </a:r>
          </a:p>
          <a:p xmlns:a="http://schemas.openxmlformats.org/drawingml/2006/main">
            <a:pPr>
              <a:defRPr sz="2025" b="0" i="0">
                <a:solidFill>
                  <a:srgbClr val="132238"/>
                </a:solidFill>
              </a:defRPr>
            </a:pPr>
            <a:r>
              <a:rPr sz="2025" b="0" i="0">
                <a:solidFill>
                  <a:srgbClr val="132238"/>
                </a:solidFill>
              </a:rPr>
              <a:t>ติดต่อผ่าน LINE ได้ถูกคน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F00DC-DBF8-43EE-9C48-FB70797B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4333875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1A8DE-22F8-43D1-AD17-CC3AF190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0B1F3A"/>
                </a:solidFill>
              </a:defRPr>
            </a:pPr>
            <a:r>
              <a:rPr sz="2250" b="1" i="0">
                <a:solidFill>
                  <a:srgbClr val="0B1F3A"/>
                </a:solidFill>
              </a:rPr>
              <a:t>ขั้นตอนเริ่มต้น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FFF47-1850-4301-8D0C-7186EF98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19375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32238"/>
                </a:solidFill>
              </a:defRPr>
            </a:pPr>
            <a:r>
              <a:rPr sz="1650" b="0" i="0">
                <a:solidFill>
                  <a:srgbClr val="132238"/>
                </a:solidFill>
              </a:rPr>
              <a:t>1. เพิ่มผู้ใช้และทีมช่าง</a:t>
            </a:r>
          </a:p>
          <a:p xmlns:a="http://schemas.openxmlformats.org/drawingml/2006/main">
            <a:pPr>
              <a:defRPr sz="1650" b="0" i="0">
                <a:solidFill>
                  <a:srgbClr val="132238"/>
                </a:solidFill>
              </a:defRPr>
            </a:pPr>
            <a:r>
              <a:rPr sz="1650" b="0" i="0">
                <a:solidFill>
                  <a:srgbClr val="132238"/>
                </a:solidFill>
              </a:rPr>
              <a:t>2. เพิ่มลูกค้าและจุดติดตั้ง</a:t>
            </a:r>
          </a:p>
          <a:p xmlns:a="http://schemas.openxmlformats.org/drawingml/2006/main">
            <a:pPr>
              <a:defRPr sz="1650" b="0" i="0">
                <a:solidFill>
                  <a:srgbClr val="132238"/>
                </a:solidFill>
              </a:defRPr>
            </a:pPr>
            <a:r>
              <a:rPr sz="1650" b="0" i="0">
                <a:solidFill>
                  <a:srgbClr val="132238"/>
                </a:solidFill>
              </a:rPr>
              <a:t>3. ลงทะเบียนโมเดลและอุปกรณ์จริง</a:t>
            </a:r>
          </a:p>
          <a:p xmlns:a="http://schemas.openxmlformats.org/drawingml/2006/main">
            <a:pPr>
              <a:defRPr sz="1650" b="0" i="0">
                <a:solidFill>
                  <a:srgbClr val="132238"/>
                </a:solidFill>
              </a:defRPr>
            </a:pPr>
            <a:r>
              <a:rPr sz="1650" b="0" i="0">
                <a:solidFill>
                  <a:srgbClr val="132238"/>
                </a:solidFill>
              </a:rPr>
              <a:t>4. เชื่อม LINE OA</a:t>
            </a:r>
          </a:p>
          <a:p xmlns:a="http://schemas.openxmlformats.org/drawingml/2006/main">
            <a:pPr>
              <a:defRPr sz="1650" b="0" i="0">
                <a:solidFill>
                  <a:srgbClr val="132238"/>
                </a:solidFill>
              </a:defRPr>
            </a:pPr>
            <a:r>
              <a:rPr sz="1650" b="0" i="0">
                <a:solidFill>
                  <a:srgbClr val="132238"/>
                </a:solidFill>
              </a:rPr>
              <a:t>5. ทดลองสร้างงานติดตั้งและเคสซ่อม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D9F23-46C0-480E-AB3A-69BEFD3D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81625"/>
            <a:ext cx="98107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A88A"/>
          </a:solidFill>
          <a:ln xmlns:a="http://schemas.openxmlformats.org/drawingml/2006/main" w="9525">
            <a:solidFill>
              <a:srgbClr val="19A8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BD2C8-4717-430A-A1DD-20EEC81A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Post-Sales IoT Support เปลี่ยนงานบริการหลังขายให้ติดตามได้จริงตั้งแต่วันแรก</a:t>
            </a:r>
          </a:p>
        </p:txBody>
      </p:sp>
    </p:spTree>
    <p:extLst>
      <p:ext uri="{BB962C8B-B14F-4D97-AF65-F5344CB8AC3E}">
        <p14:creationId xmlns:p14="http://schemas.microsoft.com/office/powerpoint/2010/main" val="16660952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2026-07-01T19:29:43.4320000Z</dcterms:created>
  <dcterms:modified xsi:type="dcterms:W3CDTF">2026-07-01T19:29:43.4320000Z</dcterms:modified>
</coreProperties>
</file>